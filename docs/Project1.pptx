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5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23.xml" ContentType="application/vnd.openxmlformats-officedocument.presentationml.notesSlide+xml"/>
  <Override PartName="/ppt/ink/ink20.xml" ContentType="application/inkml+xml"/>
  <Override PartName="/ppt/notesSlides/notesSlide24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84" r:id="rId26"/>
    <p:sldId id="285" r:id="rId27"/>
    <p:sldId id="2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76" autoAdjust="0"/>
  </p:normalViewPr>
  <p:slideViewPr>
    <p:cSldViewPr snapToGrid="0">
      <p:cViewPr varScale="1">
        <p:scale>
          <a:sx n="67" d="100"/>
          <a:sy n="67" d="100"/>
        </p:scale>
        <p:origin x="1267" y="53"/>
      </p:cViewPr>
      <p:guideLst/>
    </p:cSldViewPr>
  </p:slideViewPr>
  <p:notesTextViewPr>
    <p:cViewPr>
      <p:scale>
        <a:sx n="125" d="100"/>
        <a:sy n="125" d="100"/>
      </p:scale>
      <p:origin x="0" y="-33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22:28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3462 0 24575,'5'1'0,"-1"1"0,0-1 0,0 1 0,0 0 0,0 0 0,0 1 0,0-1 0,-1 1 0,1 0 0,5 5 0,18 12 0,12 1 0,4 1 0,47 32 0,-76-44 0,-1 1 0,0 0 0,-1 1 0,0 0 0,0 0 0,-1 2 0,9 15 0,0 2 0,31 38 0,-41-58 0,1 0 0,0 0 0,0-1 0,1 0 0,25 15 0,-23-16 0,0 1 0,19 18 0,3 2 0,-22-18 0,-1 1 0,-1 0 0,0 1 0,19 28 0,-16-22 0,26 30 0,-22-31 0,26 34 0,-39-44 0,0 1 0,0-1 0,-1 1 0,-1 0 0,1 0 0,4 20 0,4 18 0,-5-22 0,-1 1 0,-1 0 0,2 40 0,-4-27 0,9 43 0,-6-45 0,3 57 0,-10 216 0,-1-139 0,0-153 0,-2 0 0,0-1 0,0 1 0,-2-1 0,-12 33 0,8-28 0,2 0 0,-8 44 0,9-37 0,-1 0 0,-1-1 0,-1 0 0,-2 0 0,-1-1 0,-1 0 0,-20 30 0,14-28 0,8-13 0,-16 33 0,17-30 0,0-1 0,-2 0 0,-16 21 0,17-25 0,-13 27 0,20-34 0,-1 0 0,0 0 0,0 0 0,0 0 0,-1-1 0,-8 9 0,-36 21 0,38-30 0,1 2 0,0-1 0,-14 14 0,-7 10 0,-15 17 0,35-36 0,-1 0 0,-1-1 0,1-1 0,-2 0 0,1-1 0,-2-1 0,-27 14 0,-17 10 0,14-1 0,33-22 0,0-1 0,-1 0 0,0-1 0,-17 7 0,-1 0 0,-56 34 0,55-29 0,-44 19 0,50-28 0,-1-2 0,0-2 0,-1 0 0,-38 4 0,32-5 0,-64 21 0,4 0 0,63-18 0,0 1 0,-36 17 0,46-17 0,0-1 0,0-1 0,-1 0 0,0-2 0,0-1 0,-30 2 0,19-4 0,0 0 0,-39 11 0,26-4 0,5 1 0,-1-3 0,0-1 0,-58 2 0,-801-11 0,890 2 0,0-1 0,-1-1 0,1 0 0,0 0 0,0-1 0,-15-6 0,-65-34 0,68 30 0,-1 1 0,0 1 0,-29-8 0,-82-28 0,44 14 0,56 19 0,0-2 0,-42-26 0,43 23 0,-2-4 0,30 17 0,-1 1 0,-1 0 0,1 0 0,-1 1 0,0 0 0,-13-4 0,-4 1 0,0 0 0,1-1 0,0-2 0,-40-21 0,27 11 0,-25-16 0,15 7 50,34 22-404,0-2 0,1 0 1,-14-11-1,13 5-6472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22:29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249 607 24575,'-1'-4'0,"0"0"0,0 0 0,0 1 0,0-1 0,0 0 0,-1 1 0,0-1 0,1 1 0,-2 0 0,-3-6 0,-6-11 0,4 2 0,1-1 0,-6-27 0,7 24 0,-13-33 0,-5 5 0,-36-58 0,47 89 0,2-1 0,0 0 0,2 0 0,0-1 0,1 0 0,-8-34 0,16 54 0,-1-1 0,1 1 0,-1-1 0,1 1 0,0-1 0,0 1 0,0-1 0,0 1 0,0-1 0,0 1 0,0-1 0,1 1 0,-1-1 0,0 1 0,1-1 0,-1 1 0,1-1 0,0 1 0,-1 0 0,1-1 0,0 1 0,0 0 0,0 0 0,0-1 0,0 1 0,0 0 0,0 0 0,0 0 0,1 0 0,-1 0 0,0 1 0,1-1 0,-1 0 0,0 0 0,1 1 0,-1-1 0,1 1 0,-1 0 0,1-1 0,-1 1 0,1 0 0,-1 0 0,1 0 0,-1 0 0,1 0 0,1 0 0,5 1 0,0 0 0,0 0 0,0 1 0,-1 0 0,1 0 0,-1 1 0,13 6 0,32 14 0,-36-17 0,0 1 0,21 14 0,90 48 0,-94-53 0,13 3 0,-33-15 0,-1 1 0,0 0 0,21 14 0,-11-6 0,0-1 0,0-1 0,36 12 0,-26-11 0,31 18 0,-53-25-273,0 0 0,1-1 0,-1 0 0,19 4 0,-6-3-6553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26:10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3694 24575,'3'1'0,"0"0"0,-1 0 0,1 0 0,0 1 0,-1-1 0,1 1 0,-1-1 0,0 1 0,0 0 0,1 0 0,-1 0 0,3 4 0,3 3 0,-2-3 0,0 0 0,-1 1 0,0-1 0,0 1 0,0 1 0,4 10 0,-4-9 0,0 0 0,1 0 0,10 14 0,2-3 0,44 45 0,12 12 0,-5-9 0,-28-28 0,-33-30 0,1-1 0,1 0 0,10 8 0,122 87 0,-101-78 0,-10-4 0,1-3 0,0 0 0,60 23 0,17 6-300,-75-31 118,56 20 1,106 20 181,-174-52 91,0 0-1,0-1 1,23 1-1,-20-2 61,48 10-1,-17 2-354,1-3-1,0-2 1,0-2-1,83-1 1,-108-5 204,1 0 0,37 10 0,-34-6 0,50 3 0,184-8-1015,-122-3 1052,-122 1 105,0-2 1,47-11-1,-4 0-46,-5 3-96,0-3 0,-1-3 0,86-36 0,-119 43 178,1 0 0,32-4 1,-34 8 135,-1-1 0,50-19 0,-60 19-314,1 1 0,-1 1 0,34-5 0,-30 6 0,-1 0 0,32-12 0,22-10 0,-39 14 0,0-2 0,57-30 0,-20 7 8,-47 25-90,46-29 1,89-53-952,-22 15 691,158-101 1247,-243 145-622,12-5 59,123-73-342,-180 107 0,98-70 0,-42 40 0,-51 30 0,0-1 0,-1-1 0,0 0 0,20-16 0,-12 8-57,39-26 0,-35 27-415,18-7 343,-33 17 132,0 0 0,0 0 0,14-10 0,208-167-3,-210 165-68,2-2-202,31-32 1,36-40 554,21-24 112,36-40 231,-103 108-628,-29 32 0,-1-1 0,23-32 0,-24 30 27,0 0-1,2 1 1,17-16 0,-13 14-745,25-32 0,18-48 428,-42 64 302,24-32 0,0 9-92,43-75 0,5-14-718,-12 8 1972,-17 36-1174,-44 74 0,13-24 690,38-80-1,-3 8-689,-15 29 0,-37 65 0,-1-1 0,13-39 0,-16 37-175,18-36-1,-17 42 31,-1-1 0,10-34 0,34-103 14,-14 51 54,-25 69 565,43-81-1,-19 45-468,-29 52-19,-1 1 0,-2-2 0,-1 1 0,6-53 0,-12 75 16,0 0 0,1 0-1,0 1 1,0-1 0,1 1 0,-1 0-1,7-9 1,-5 9-229,-1 0 0,1-1 0,-2 0 0,1 0 0,-1 0 0,2-10 0,-1-5-6613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26:11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3 416 24575,'-1'28'0,"0"30"0,1-54 0,0-1 0,0 0 0,1 1 0,0-1 0,-1 0 0,1 1 0,0-1 0,1 0 0,-1 0 0,1 0 0,-1 0 0,4 5 0,-4-7 0,0 0 0,1 0 0,-1 0 0,0 0 0,0-1 0,1 1 0,-1 0 0,0-1 0,1 1 0,-1 0 0,0-1 0,1 0 0,-1 1 0,1-1 0,-1 0 0,1 0 0,-1 0 0,1 0 0,-1 0 0,1 0 0,-1 0 0,0 0 0,1-1 0,-1 1 0,1 0 0,-1-1 0,1 1 0,-1-1 0,0 0 0,0 0 0,1 1 0,-1-1 0,0 0 0,0 0 0,2-2 0,5-3 0,-1-1 0,0-1 0,12-15 0,-15 18 0,79-93 0,-45 56 0,61-91 0,41-55 0,-120 163 0,-19 24 0,-1 1 0,1-1 0,-1 0 0,1 0 0,-1 0 0,1 1 0,0-1 0,0 0 0,-1 1 0,1-1 0,0 0 0,0 1 0,0-1 0,-1 1 0,1-1 0,0 1 0,0 0 0,0-1 0,0 1 0,0 0 0,0 0 0,0 0 0,1-1 0,-1 2 0,0-1 0,-1 1 0,1-1 0,0 1 0,-1 0 0,1-1 0,-1 1 0,1 0 0,-1 0 0,1-1 0,-1 1 0,1 0 0,-1 0 0,0-1 0,0 1 0,1 0 0,-1 0 0,0 0 0,0 0 0,0 1 0,2 58 0,-3-50 0,3 20 0,1 0 0,2 0 0,1-1 0,1 1 0,1-1 0,2-1 0,13 30 0,33 48 0,-25-37 0,54 89 0,-61-116 0,-19-32-151,-1 0-1,0 0 0,-1 1 0,0-1 1,0 1-1,-1-1 0,0 1 1,-1 15-1,1 1-6674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8:23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24575,'0'-1'-8191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6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3881 1 24575,'-3'1'0,"0"0"0,1 1 0,-1 0 0,1-1 0,-1 1 0,1 0 0,0 0 0,-1 0 0,1 1 0,0-1 0,0 0 0,-1 4 0,-12 10 0,-67 65 0,59-61 0,1 1 0,-29 34 0,27-30 0,-35 30 0,-14 12 0,15-14 9,40-38-77,-33 34-1,33-29-71,-2-1 1,-1-1-1,-28 20 0,-27 23-1174,41-32 933,-1-2 1,-42 25 0,-10 6 398,43-25-18,-60 32 0,91-57 0,0 2 0,1-1 0,-19 19 0,17-14 0,-30 20 0,13-14 0,-99 69 0,17-12 0,79-55 0,-56 43 0,62-42-110,-66 38-1,-10 8-56,-39 48 1066,124-102-235,-34 18 0,41-27-631,1 1-1,1 0 0,0 0 0,0 1 0,0 1 0,1 0 1,0 0-1,0 1 0,-10 15 0,14-17-32,-1-1 0,0 0 0,0 0 0,0-1 0,-1 0 0,0 0 0,0-1 0,-1 0 0,1 0 0,-14 5 0,-36 22 0,-90 75 963,-22-4-963,-33 22 0,170-104 0,-33 27 0,36-26 0,-44 27 0,29-22 0,30-17 0,1-1 0,-2 0 0,-16 6 0,9-6 0,-43 27 0,46-24 0,0-1 0,-34 13 0,-20 11 0,13-6 0,15-7 0,2 1 0,-73 51 0,43-27 0,-7-4-1365,63-34-5461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6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1 24575,'-1'10'0,"-1"1"0,0-1 0,0 0 0,-1 0 0,-5 12 0,0 2 0,3-9 0,-2-1 0,1 0 0,-2 0 0,-14 20 0,-16 33 0,14-16 0,-3 10 0,-29 86 0,34-77 0,12-44 0,2 1 0,0 0 0,2 0 0,1 0 0,1 1 0,0 53 0,5-75 4,0 0-1,0 0 1,0 0 0,1 0-1,0 0 1,1 0-1,-1-1 1,1 1-1,0-1 1,0 0 0,1 0-1,0 0 1,0 0-1,0 0 1,0-1-1,1 0 1,8 7 0,7 3-181,1-1 0,0-1 0,26 11 0,-40-20 34,130 54-14,-111-44 157,1-1 0,1-1 0,55 14 0,64 17 0,-71-18 0,-44-12-2,34 16-1,-46-19 30,1 0 0,0-1 0,0 0 0,0-2 0,34 5 0,-48-10-56,1 0 0,-1 1 0,1 0 0,-1 0 0,0 1 0,0-1 0,0 2 0,0-1 1,0 1-1,-1 0 0,1 0 0,-1 1 0,0 0 0,0 0 0,-1 0 0,0 1 0,0 0 0,0 0 0,6 10 0,0 0-6797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1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24575,'12'0'8,"0"1"-1,-1 1 1,1 0-1,-1 0 1,0 1-1,1 1 1,19 9-1,3 4-342,35 24-1,-38-21-588,36 17 1,-6-5 268,0 4 0,76 59 0,67 41 778,-164-111-107,66 55-1,-66-48-18,49 31 0,-44-36 3,-2 3 0,-1 1 0,-1 2 0,43 44 0,-75-68 81,0-1 0,1-1 0,0 0 0,16 9 0,-12-8 122,-1 0-1,18 16 1,146 109 740,-118-92-483,-21-16-239,1-1 0,1-3 0,51 21 0,-76-35-324,1 2-1,-1 0 0,20 16 0,-21-15 73,0 0 0,1 0 0,24 10 0,18 3 189,-1 3 0,-2 2 0,0 3 0,-2 1 0,48 41 0,100 88 408,-149-113-566,-6-5 0,103 88 0,-26-22 0,16-9 0,-118-86 0,1 0 0,0-2 0,1 0 0,0-1 0,27 9 0,36 18 0,-36-11 0,-30-15 0,1-1 0,38 15 0,-40-20 0,-1 2 0,18 10 0,24 11 0,-51-26 0,0 1 0,0 0 0,-1 1 0,1 0 0,-1 0 0,0 0 0,0 1 0,-1 0 0,8 9 0,-4-4 0,5 1 0,0 0 0,0-1 0,1 0 0,1-1 0,0-1 0,0-1 0,1 0 0,28 8 0,9 4 0,-38-12 0,0 1 0,-1 0 0,0 0 0,-1 2 0,21 18 0,35 32 0,-63-53 0,0-1 0,0 1 0,8 12 0,16 15 0,49 48 0,49 31 0,-111-96-1365,-3-4-5461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2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 1 24575,'0'383'0,"1"-363"0,1 0 0,1 0 0,6 23 0,-3-20 0,4 42 0,-9-44 0,1 1 0,2-1 0,0 0 0,1 0 0,1-1 0,0 0 0,19 36 0,-21-47 0,7 15 0,-11-23 0,0 0 0,0-1 0,0 1 0,0 0 0,0-1 0,0 1 0,0 0 0,-1-1 0,1 1 0,0 0 0,0-1 0,-1 1 0,1 0 0,0-1 0,-1 1 0,1-1 0,0 1 0,-1-1 0,1 1 0,-1-1 0,1 1 0,-1-1 0,1 1 0,-1-1 0,0 0 0,1 1 0,-1-1 0,1 0 0,-1 1 0,0-1 0,1 0 0,-1 0 0,0 0 0,1 1 0,-2-1 0,-19 3 0,0-1 0,-1 0 0,1-2 0,-42-4 0,1 1 0,-257 2-1365,292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57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0 225 24575,'1'-3'0,"-1"-1"0,1 1 0,0 0 0,0 0 0,1 0 0,-1 0 0,0 1 0,1-1 0,0 0 0,-1 0 0,1 1 0,0-1 0,1 1 0,-1 0 0,3-3 0,40-29 0,-7 15 0,1 1 0,80-25 0,-73 31-203,1 2 0,53-4 0,-32 5 198,67-4-1804,246 8 0,-208 7 1124,880-2-5392,-819 15 6591,-38 1-117,586-13-2669,-404-6 1254,-165 2 733,236 3 179,-257 13 106,35 0 0,-13-15 209,212 13 372,8 5-661,-200-15 138,-17 14 569,-78-4-444,243 48 435,-5 1-20,-237-44-598,264 70 0,-247-51-41,83 23 265,-105-26 299,38 13-132,-113-27-266,1-1 0,97 15 0,-117-27 630,-1 2 0,51 20 0,-54-17-332,0-1-1,66 11 0,-47-13 243,91 27 0,-117-27-69,-8-5-161,0 0 0,36 1 0,-42-4-301,-1 0 1,1 0 0,-1 2-1,0 0 1,0 1 0,0 0 0,19 8-1,-32-11-134,24 13 0,0-1 0,1-2 0,50 14 0,-49-17 418,-1 1 0,0 2 0,40 21 0,2 1-432,106 55 14,-59-17-703,4-20 961,-74-33-36,79 43 1,-93-41-223,0 2 0,-2 0 0,0 2 0,39 41 0,-53-45 0,-1 1 0,20 37 0,-23-37 0,1-1 0,1 1 0,22 24 0,57 67 0,-19-21 0,61 73 0,-113-136 0,-2 2 0,25 47 0,-24-39 0,30 41 0,-29-46 0,21 41 0,-14-23 0,-16-28 0,1-2 0,1 0 0,23 25 0,-32-38 0,0 0 0,-1 0 0,0 0 0,0 1 0,-1 0 0,5 11 0,17 33 0,-13-31 0,-1 0 0,-1 1 0,8 25 0,5 12 0,-6-7 0,-16-44 0,0-1 0,0 0 0,1 0 0,0 0 0,1 0 0,0-1 0,0 1 0,10 12 0,12 16-1365,-19-22-5461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58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1 409 24575,'14'0'0,"1"1"0,-1 0 0,0 1 0,0 0 0,16 5 0,-22-4 0,0 0 0,0 0 0,-1 1 0,1 0 0,-1 1 0,0 0 0,0 0 0,0 0 0,-1 1 0,6 6 0,25 29 0,-2 2 0,-2 1 0,27 49 0,-22-41 0,-29-41 0,-1-1 0,0 2 0,-1-1 0,11 24 0,8 24 0,11 34 0,-33-81 0,1 0 0,1 0 0,0 0 0,1-1 0,0 0 0,13 15 0,1 2 0,-14-17 0,0 1 0,9 23 0,-12-24 0,2 0 0,-1 0 0,1 0 0,8 10 0,-9-15 0,0 0 0,0 0 0,0-1 0,1 1 0,0-1 0,0-1 0,0 1 0,0-1 0,1 0 0,11 5 0,-15-8 0,0 0 0,1-1 0,-1 1 0,1-1 0,-1 1 0,1-1 0,-1 0 0,0 0 0,1-1 0,-1 1 0,1-1 0,-1 0 0,1 0 0,-1 0 0,0 0 0,0 0 0,0-1 0,1 1 0,-1-1 0,0 0 0,-1 0 0,1 0 0,0 0 0,-1-1 0,3-2 0,17-18 0,-2-2 0,27-39 0,0-2 0,-36 49 0,-1 0 0,-1 0 0,0-1 0,-1 0 0,9-34 0,5-10 0,-9 26 0,-1-2 0,-1 1 0,9-74 0,8-43 0,-16 99 0,-2-1 0,3-93 0,-14-72-1365,1 194-5461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8:00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11807 766 24575,'-14'-12'0,"0"0"0,-1 1 0,0 0 0,-1 1 0,-25-12 0,-88-31 0,119 50 0,-73-24 0,49 16 0,-67-28 0,-146-59-1486,200 81 1439,-236-70 47,251 78-67,-62-11 0,63 15-95,0-2 1,-43-14-1,46 12 162,-1 1 0,0 2 0,-56-6 0,54 10 0,1-3 0,-1 0 0,-42-15 0,36 7 197,-1 1-1,-1 1 0,0 2 0,0 2 1,0 2-1,-53-1 0,54 4-196,0-1 0,-39-10 0,8 2 0,-5-3-244,39 7 210,-58-4 0,-495 9 29,297 4-1532,-121-2 595,381-1 942,-1-2 0,-36-9 0,33 6 0,-53-4 0,50 7-7,-50-10 0,51 7 93,-54-4 0,48 10 335,13 0 217,0-1 0,-57-10 0,40 2-523,0 2-1,-60 0 0,-98 8 457,71 1-404,100-2-315,0 1 1,0 2-1,-67 13 0,46 0 148,28-8 0,-1-1 0,-39 5 0,16-5 0,0 3 0,-63 20 0,95-25 0,-115 22 0,101-19 0,-36 4 0,0-1 0,-282 42 0,279-39 0,51-9 0,0-1 0,-24 2 0,5-2 0,-1 1 0,1 2 0,-56 18 0,54-14 300,-79 7 0,26-4-309,-44 17 9,100-22-60,-131 37-557,29-4 617,-5-12-536,19-5 102,102-19 434,-25 6 0,-85 31 0,78-22-45,-98 20 0,134-36-312,-141 44 198,133-41 358,1 1 1,-39 18-1,42-15 13,-1-2-1,-50 14 1,35-14-212,0 3 0,-75 33 0,77-30 0,23-11 0,1 2 0,0-1 0,-26 18 0,-2 3 522,-47 23 0,-32 20-546,59-32 24,-20 15 0,-115 110 12,163-128-48,1 1 0,2 2 1,-33 49-1,49-66-198,0-1 1,-24 22-1,-21 26 279,-83 112-45,126-157 157,-1-1 1,-1-1-1,-2-1 1,-46 34-1,47-36-157,-27 26 0,32-28 0,-1 0 0,-33 23 0,33-26 0,0 0 0,0 2 0,1 0 0,-16 20 0,-7 7 0,-4-4 0,31-28 0,-1 1 0,1 0 0,1 1 0,-15 20 0,6-4 0,-31 32 0,28-34 0,-28 39 0,33-39 0,-23 24 0,-8 11 0,-31 26 0,67-73 0,0 0 0,0-1 0,-2-1 0,-20 15 0,-29 25 0,54-43 0,-9 10 0,0-2 0,-35 25 0,40-34 0,1 1 0,1 1 0,-1 0 0,2 0 0,-1 1 0,1 0 0,1 1 0,-10 15 0,12-16 0,0 0 0,-1-1 0,-12 12 0,-13 14 0,-112 162 0,137-184 0,1 1 0,-9 24 0,13-28 0,-1 0 0,0 0 0,0-1 0,-1 0 0,-1 0 0,1-1 0,-10 11 0,-6 3 0,2 2 0,-33 49 0,-1 3 0,43-63 0,-73 100 0,78-104 0,2 0 0,-1 0 0,1 1 0,1 0 0,0-1 0,1 1 0,-3 21 0,3-15 0,-1 0 0,-7 20 0,-52 122 0,33-102 89,-5 13-1543,27-50-5372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8:01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24575,'3'0'0,"0"0"0,1 0 0,-1 0 1,0 1-1,1-1 0,-1 1 0,0 0 0,0 0 0,1 0 0,-1 0 0,0 1 0,0-1 0,0 1 0,-1 0 0,1 0 0,0 0 0,-1 0 1,1 0-1,4 5 0,-2 1-1,0 0 0,-1 1 1,0-1-1,0 1 0,4 13 1,13 29-111,-1-14-31,-2-1 0,-2 2 1,18 59-1,47 156 255,-76-240-57,-1-1 0,2 0 0,0-1 1,0 1-1,1-1 0,0 0 0,1-1 0,0 0 0,1 0 0,10 9 0,-15-16-58,0 0 1,0 0-1,0 0 1,0-1-1,0 1 0,0-1 1,1 0-1,-1-1 1,1 1-1,-1-1 0,1 0 1,0 0-1,0 0 1,-1 0-1,1-1 0,0 0 1,0 0-1,0-1 1,-1 1-1,1-1 0,0 0 1,-1 0-1,1 0 0,0-1 1,-1 0-1,1 0 1,-1 0-1,0 0 0,0-1 1,6-4-1,18-12 2,0 1 0,1 1 0,1 2 0,0 0 0,2 2 0,-1 2 0,1 1 0,40-7 0,245-46 0,-258 49 0,-38 8 0,0 2 0,39-5 0,-25 8 0,-3 0 0,58-10 0,101-28 0,-158 35 0,-1 0 0,42 2 0,9-1 0,-71 2-124,1-2 0,-1 1 0,0-2 0,0 1 0,0-2 0,0 0-1,-1 0 1,0-1 0,0 0 0,11-8 0,-2 0-6702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3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3284 24575,'4'0'0,"0"-1"0,-1 0 0,1-1 0,-1 1 0,1-1 0,-1 1 0,1-1 0,-1 0 0,0 0 0,0 0 0,0-1 0,0 1 0,3-4 0,7-5 0,32-21-270,2 2 0,88-43 0,147-65-1342,4-8 1612,-32-11-2370,-183 116 1673,-3-3-1,-2-4 1,112-102-1,-147 123 694,56-38 0,-53 41 54,46-40 0,-52 36 139,-16 15-100,1 1-1,24-18 1,72-54 589,14-8 501,-89 67-253,54-49 1,-37 29-512,26-17-415,47-41 0,-109 90 121,1 1-1,33-20 0,-6 5 178,65-39-166,-88 53 342,1 1 0,35-15 0,6-3-315,122-64-535,-123 60 376,152-89 0,103-68-962,-178 104 777,-102 66 552,-15 8-147,1 1 0,23-8 0,41-15 833,-34 13-1062,63-17-1,-95 33-44,1 0-1,-2-1 1,1-1-1,-1-1 1,0-1-1,-1-1 1,0 0-1,-1-1 1,23-21-1,-15 11 55,2 1 0,36-22 0,27-21 0,-38 23 44,62-34-1,-22 16 415,-36 27-458,8-6 0,-13 5 0,-34 22 0,0 0 0,25-22 0,49-73-1365,-77 92-5461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4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24575,'1'2'0,"-1"-1"0,1 1 0,0-1 0,-1 1 0,1-1 0,0 0 0,0 1 0,0-1 0,0 0 0,0 0 0,0 1 0,0-1 0,1 0 0,-1 0 0,0 0 0,1-1 0,1 2 0,27 15 0,-29-16 0,10 4 0,1-1 0,-1 0 0,0-1 0,1 0 0,0 0 0,-1-2 0,14 1 0,88-2 0,-63-2 0,-25 0 0,0-1 0,-1-1 0,28-8 0,-16 3 0,-3 0 0,0-2 0,38-18 0,-1-1 0,-68 29 0,1 0 0,-1 0 0,1 1 0,-1-1 0,1 0 0,-1 1 0,1 0 0,0-1 0,-1 1 0,1 0 0,0 0 0,-1 1 0,1-1 0,-1 1 0,1-1 0,0 1 0,3 1 0,-4-1 0,0 1 0,0 0 0,0-1 0,-1 1 0,1 0 0,0 0 0,-1 0 0,0 0 0,1 0 0,-1 0 0,0 0 0,0 0 0,0 1 0,0-1 0,0 0 0,-1 1 0,1-1 0,-1 1 0,1 2 0,3 35 0,-2 1 0,-5 75 0,-1-23 0,4 351 0,-1-419 0,-1-1 0,-10 39 0,-1 16 0,-4 17 0,11-68 0,0 0 0,-1 41 0,7-38-1365,0-4-5461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8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3935 1812 24575,'-5'0'0,"0"-1"1,0 1-1,1-1 0,-1-1 0,0 1 1,1 0-1,-1-1 0,1 0 0,0 0 1,-1-1-1,1 1 0,-4-4 0,-48-44 12,10 9-1392,24 27 1210,-46-22 0,-10-6 237,39 19-67,0 3 0,-50-19 0,47 21 0,1-1 0,-41-25 0,47 24 0,-1 3 0,-73-26 0,95 38 0,-70-23 0,42 15 0,-55-24 0,-49-17 0,70 28 0,10 4-14,28 10 54,-36-17 0,-57-22 299,5 3-141,86 33 850,28 11-1050,1 0-1,-1-1 0,2 0 1,-15-9-1,13 6 3,0 2 0,-1 0 0,1 0 0,-28-7 0,29 10 0,0-1 0,0 0 0,0 0 0,1-1 0,-1 0 0,1-1 0,0 0 0,-10-9 0,12 8 0,-1 1 0,0 0 0,0 0 0,-17-6 0,-17-12 0,-10-7 0,34 21 0,1-1 0,-33-26 0,33 23 0,-1 1 0,0 0 0,-1 2 0,-1 0 0,-27-9 0,27 11 0,1 0 0,0-1 0,0-1 0,1 0 0,-31-26 0,42 30 0,0 1 0,-1 1 0,1 0 0,-1 0 0,-11-4 0,-22-13 0,-3-6 0,24 16 0,1 0 0,1-1 0,-25-23 0,31 25 0,1-2 0,-1 1 0,0 0 0,-1 1 0,0 1 0,-30-16 0,27 17 0,0-1 0,-25-18 0,29 18 0,-1 0 0,-1 1 0,-27-13 0,-3 4 0,12 4 0,0 1 0,-42-9 0,47 14 0,1 0 0,-43-21 0,49 19 0,0 1 0,0 1 0,-1 1 0,0 1 0,-30-4 0,3 4 0,1-1 0,-78-23 0,103 24-455,0 1 0,-26-3 0,22 5-6371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7:49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527 1083 24575,'-2'-1'0,"-1"0"0,1-1 0,-1 1 0,1-1 0,0 0 0,0 0 0,0 0 0,0 0 0,0 0 0,0 0 0,0 0 0,1-1 0,-1 1 0,1-1 0,-3-4 0,-4-6 0,-13-17 0,2-1 0,2-1 0,-25-59 0,9 18 0,28 63 0,-1 0 0,-1 1 0,-8-10 0,9 12 0,1-1 0,-1 1 0,2-1 0,-1 0 0,1 0 0,-5-12 0,-67-195 0,72 201 0,0 1 0,-1 0 0,-1 0 0,0 0 0,0 0 0,-2 1 0,1 0 0,-1 1 0,-1-1 0,0 2 0,-1-1 0,-19-15 0,24 21 0,0 0 0,0 0 0,1 0 0,0-1 0,0 0 0,0 0 0,0 0 0,1 0 0,-4-11 0,-12-22 0,16 36 0,-1-4 0,0 0 0,0 0 0,1 0 0,-1 0 0,-1-8 0,4 13 0,1 1 0,0 0 0,-1-1 0,1 1 0,0-1 0,0 1 0,0-1 0,0 1 0,0 0 0,0-1 0,0 1 0,1-1 0,-1 1 0,0-1 0,1 1 0,-1 0 0,1-1 0,0 1 0,-1 0 0,1 0 0,0-1 0,0 1 0,0 0 0,0 0 0,0 0 0,0 0 0,0 0 0,0 0 0,0 0 0,0 1 0,1-1 0,-1 0 0,0 0 0,3 0 0,46-18 0,86-19 0,-89 31 0,1 1 0,0 3 0,91 5 0,-39 1 0,534-3-1365,-606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8:03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24575,'0'415'0,"1"-399"0,1-1 0,0 0 0,1 0 0,1-1 0,0 1 0,1-1 0,8 17 0,10 31 0,-14-37 0,1-1 0,1 1 0,22 34 0,53 66 0,-5-7 0,-64-93 0,40 44 0,-6-8 0,1 1-238,4-2-1,1-3 1,76 58 0,-37-32-1139,85 54 1926,-153-118 16,-13-8-459,15 10-505,56 31 0,-27-17 414,-42-24-54,37 18-1,-42-22-25,0-1 0,-1 1 0,20 17-1,2 1 9,15 8 57,123 79 0,-98-62 0,-24-15 0,5 5 91,62 57 0,5 6 226,-27-24 133,-58-46-1212,58 39 0,23 6 1903,-39-23-1141,-22-13 0,155 83 0,-150-89 522,-43-24-222,1-1 1,0-1 0,34 13-1,-41-18-300,0 0 0,21 13 0,-24-13 0,1 1 0,1-1 0,-1 0 0,17 4 0,55 9 0,-48-12 0,0 2 0,0 2 0,34 14 0,-43-15 0,0-1 0,0-1 0,1-2 0,0 0 0,52 2 0,-73-6 0,44 3-360,0 3-1,53 15 1,-35 0 191,-43-13-13,0-1 0,0-2 0,30 5 0,114 21-421,-99-18 850,-37-7 3,0-1 0,49 2 0,73 8 281,-101-8-242,57 0 1,-74-6-44,60 11 0,-59-6-255,54 2 0,72-11-56,81 4-892,-146 13 957,-64-8 0,56 2 0,28-10 0,49 3 0,-147 1-79,-1 0 0,0 2 1,0 1-1,17 7 0,-17-6 61,1 0 1,-1-2-1,32 6 1,-1-7 17,-30-3 0,0 1 0,0 0 0,1 2 0,21 7 0,-37-10 40,38 14 683,54 10 0,-73-20-723,26 5 0,1-1 0,79 1 0,-38-9 0,133-4 0,-208 0-86,0 0 1,0-1-1,-1-1 0,31-13 0,-24 8-40,34-8-1,-35 12 127,38-17 0,-44 15 0,1 1 0,1 1 0,-1 1 0,19-3 0,8 0-592,70-23 1,-68 17 291,-17 7 447,0 3 1,0 0-1,0 2 0,0 1 0,38 3 0,-33 0 70,-1-2 0,1-1 0,54-9-1,-47 3-77,1 2 0,59 0 0,-1 1-141,-71 0 2,-1-1 0,53-17 0,-55 13 0,0 2 0,1 1 0,42-4 0,245 8 0,-151 4 0,-134-4 0,-1-2 0,0-1 0,0-2 0,0 0 0,36-16 0,-22 9 0,-10 4 0,2 2 0,-1 2 0,1 0 0,39 0 0,140 7 0,-84 2 0,441-3 0,-553-1 0,-1-1 0,0-1 0,0 0 0,0-1 0,0-1 0,22-10 0,37-10 0,-53 18 0,0-1 0,0-1 0,36-21 0,28-12 0,-67 34 0,0 1 0,1 1 0,0 1 0,0 1 0,1 0 0,-1 2 0,23-1 0,86 6 0,92-5 0,-191-2 0,-1-2 0,1 0 0,-1-3 0,-1 0 0,43-21 0,74-30-1642,-81 34 1364,-29 13 278,-4 1 0,0-1 0,55-33 0,19-14 87,-25 16-1386,-47 24 1372,2 1 1,0 2 0,1 1 0,50-14-1,-72 25-50,0 0 0,-1-1 0,0-1 0,20-13 0,-21 12-1,0 1 1,1 0 0,0 1-1,21-8 1,33-4 280,74-11 1,-110 20 319,-24 1-215,-7 8-400,-1-1-1,1 1 1,0-1-1,-1 1 1,1-1-1,-1 1 1,1-1 0,-1 1-1,0 0 1,1-1-1,-1 1 1,1 0-1,-1-1 1,0 1-1,1 0 1,-1 0-1,1-1 1,-1 1-1,0 0 1,1 0-1,-2 0 1,-19-3-1231,-1 0-5013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38:04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1343 24575,'2'-24'-119,"2"0"0,0 0 0,2 0 0,0 1 0,2 0-1,20-43 1,-9 19 28,-6 19 91,1 1 0,26-38 0,-24 41 0,-1 0 0,-2 0 0,15-36 0,-23 47 0,1 1 0,1 0 0,0 0 0,16-20 0,12-19 0,6-22-95,71-138-370,-56 55 465,-44 119 0,-6 14 133,0 0 1,1-26-1,-4 27 184,1 0-1,11-38 0,-14 59-311,-1 0 0,0-1 0,1 1-1,-1-1 1,1 1 0,0 0 0,-1-1-1,1 1 1,0 0 0,0 0-1,-1 0 1,1-1 0,0 1 0,0 0-1,0 0 1,1 0 0,-1 1 0,0-1-1,0 0 1,0 0 0,1 0 0,-1 1-1,0-1 1,1 1 0,-1-1-1,3 1 1,-2 0-4,0 0 1,0 1-1,0-1 0,1 1 0,-1 0 1,0 0-1,0 0 0,0 0 0,0 0 1,-1 0-1,1 0 0,0 1 0,0-1 1,-1 1-1,3 2 0,7 8-4,-1 0 0,-1 1 0,14 24 0,79 113-625,-20-32 568,-45-61 19,59 70-1,-35-52-351,51 57-55,-91-112 765,36 28-1,2 0-324,-29-14 606,-23-26-501,0 1 1,1-1-1,12 10 0,70 62-97,-47-44 67,49 54 0,17 15-1566,-94-93-5327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44:13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43:44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1782 889 24575,'-8'-1'0,"1"-1"0,-1 0 0,1 0 0,0 0 0,0-1 0,0 0 0,0-1 0,-6-4 0,-8-3 0,-105-52 0,-70-33 0,14 28 0,167 63 0,0 0 0,0 1 0,-31-4 0,-17-4 0,11-4 0,37 10 0,-1 0 0,0 1 0,-1 1 0,1 1 0,-1 0 0,1 1 0,-1 1 0,0 1 0,-19 1 0,19 3 0,0 0 0,0 2 0,0-1 0,1 2 0,0 0 0,1 1 0,-25 16 0,25-15 0,7-4 0,0 0 0,0 0 0,0 1 0,1 0 0,0 1 0,0-1 0,-7 10 0,-67 76 0,5-17 0,26-28 0,-70 90 0,111-127 0,1 0 0,0 0 0,1 1 0,0 0 0,1 0 0,0 1 0,1 0 0,0 0 0,-4 18 0,-1 12 0,-8 64 0,15-66 5,2 44-1,-1 15-104,-1-76-131,-11 40 0,3-18 234,-22 108 547,28-130-550,-1-1 0,-14 31 0,13-37 0,1 0 0,0 0 0,1 1 0,1-1 0,-3 29 0,5 268 0,5-149 0,-2-145 0,1 0 0,1 0 0,7 27 0,-4-24 0,4 44 0,-7-45 0,1-1 0,1 1 0,1-1 0,0 0 0,2-1 0,14 28 0,15 43 0,-6-22 0,-24-54 0,0 0 0,0 1 0,-2-1 0,5 17 0,-5-15 0,1 1 0,0-1 0,2 0 0,16 27 0,-12-24 0,-2 1 0,11 27 0,-14-34 0,0 0 0,0-1 0,1 0 0,1 0 0,16 18 0,-10-11 0,-1-6 0,0 0 0,1-1 0,0-1 0,1 0 0,20 10 0,4 0 26,-30-17-150,0 1 0,-1 0-1,1 1 1,-1 0-1,0 0 1,9 10-1,21 20 106,60 43 1,1 1 19,-84-66-1,0 0 0,33 24 0,-38-30-13,0 0 0,-1 1 0,0 1-1,8 10 1,-7-8 269,0-1 1,21 17-1,-18-19-237,0-1 1,1 0-1,0-1 1,0 0-1,1-1 1,0-1-1,0-1 1,0 0-1,28 3 1,11-4-36,88-4 1,-46-2 29,-25 4-14,78-3 0,-73-13 0,-58 10 0,2 1 0,22-2 0,-18 5 0,0-1 0,0-1 0,0-2 0,-1 0 0,0-1 0,0-2 0,0 0 0,35-19 0,5-1 0,-52 24 0,1-1 0,-1-1 0,0 0 0,0 0 0,20-16 0,0-5 0,1 1 0,39-23 0,-62 41 0,0 0 0,0 0 0,0-1 0,-1 0 0,-1-1 0,11-13 0,11-13 0,-13 15 0,-1 0 0,17-29 0,-22 32 0,0 1 0,2 0 0,0 0 0,23-22 0,-25 28 0,-1-1 0,-1 0 0,0-1 0,0 0 0,-1 0 0,-1-1 0,6-15 0,-3 10 0,-1 0 0,22-29 0,-2 5 0,-1-1 0,38-84 0,-66 128 0,10-25 0,-1-1 0,-2 1 0,9-52 0,-13 58 0,27-121 0,-23 96 0,-1-1 0,-3 1 0,-2-1 0,-4-49 0,0-3 0,3-380 0,-1 450 0,-2 0 0,-8-39 0,4 33 0,-2-36 0,6 46 0,-1-1 0,-1 1 0,-1 0 0,-1 1 0,-13-28 0,-11-38 0,19 53 0,-19-38 0,-5-15 0,-45-116 0,44 120 0,-4-8 0,34 74 0,-1 0 0,-1 1 0,-17-24 0,-10-21 0,27 47 0,-1-1 0,0 2 0,-1-1 0,-16-15 0,12 14 0,0-1 0,-12-22 0,-104-139 0,111 153 0,-19-20 0,-18-25 0,50 61 0,1 0 0,-2 1 0,1 0 0,-1 0 0,-1 1 0,1 0 0,-1 0 0,-1 1 0,1 0 0,-19-8 0,9 7 0,-2 0 0,1 1 0,-1 1 0,-33-4 0,-18-4 0,43 7 0,-1 1 0,-32-1 0,-415 7 0,454 1 0,-1 1 0,1 1 0,-1 1 0,1 1 0,-36 15 0,8-4 0,39-12 0,1-1 0,0 2 0,0 0 0,0 0 0,-19 15 0,-46 46 0,52-44 0,-106 113 0,113-117 0,-1 4 8,1 1 0,1 1 1,1 1-1,1 0 0,-13 36 0,-14 26-1422,31-70-5412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43:47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2096 195 24575,'-7'0'0,"0"-2"0,0 1 0,0-1 0,0 0 0,-10-4 0,-23-5 0,17 6 0,0-1 0,0-1 0,-23-11 0,-16-4 0,44 17 0,0 2 0,-33-4 0,-25-5 0,23 0 0,25 6 0,1-1 0,0-2 0,-29-12 0,42 15 0,-1 0 0,1 2 0,0 0 0,-1 1 0,0 0 0,-24-1 0,-95 5 0,63 1 0,-51-3 0,-105 4 0,214 0 0,-1 0 0,0 1 0,1 1 0,0 0 0,0 1 0,1 1 0,-23 14 0,1-1 0,-105 43 0,110-51 0,-23 13 0,-91 57 0,134-77 0,-46 22 0,43-22 0,0 0 0,1 1 0,-20 12 0,28-15 0,-1 0 0,1 0 0,-1 1 0,1-1 0,0 1 0,1-1 0,-1 1 0,0 0 0,1 0 0,0 0 0,0 1 0,0-1 0,1 0 0,-2 8 0,-6 23 0,0-1 0,-16 37 0,13-44 0,1 1 0,2 0 0,-11 54 0,18-70 0,1-1 0,0 1 0,1-1 0,0 1 0,1-1 0,1 1 0,-1-1 0,2 1 0,-1-1 0,2 0 0,-1 0 0,11 20 0,19 25 0,55 73 0,-51-71 0,-28-41 0,1-1 0,20 25 0,18 21 0,-40-49 0,1 0 0,0-1 0,1 0 0,0 0 0,1-1 0,0 0 0,1-1 0,19 12 0,-17-13 0,0 0 0,16 16 0,-22-18 0,0 0 0,1 0 0,0-1 0,0 0 0,1 0 0,-1-1 0,1 0 0,12 4 0,66 19 0,-65-19 0,-1-1 0,2-1 0,-1-1 0,43 5 0,5-11 0,-50-1 0,0 1 0,-1 1 0,0 1 0,39 8 0,-30-3 0,0-1 0,1-1 0,41 0 0,93-6 0,-62-1 0,247 2 0,-327-2 0,-1 0 0,0-2 0,0 0 0,0-2 0,30-11 0,48-12 0,-72 22 0,0 0 0,0-3 0,-1 0 0,44-24 0,-22 7 0,64-50 0,-6-7 0,-97 77 0,19-15 0,-2 0 0,37-40 0,-56 54 0,0-1 0,-1 0 0,0 0 0,0 0 0,-1-1 0,0 0 0,-1 0 0,0 0 0,-1 0 0,0-1 0,0 1 0,1-16 0,-2-151 0,-4 100 0,2 67 0,-1 1 0,0-1 0,-1 0 0,0 1 0,0 0 0,-1-1 0,0 1 0,-1 0 0,0 0 0,0 1 0,-8-12 0,2 0 0,1-1 0,0-1 0,2 0 0,-7-30 0,-8-26 0,17 65 0,-1 0 0,-1 1 0,1-1 0,-2 1 0,0 0 0,0 1 0,-1 0 0,-1 0 0,1 1 0,-2 0 0,1 1 0,-1 0 0,-1 1 0,-14-9 0,2 2 0,10 5 0,0 1 0,-1 1 0,-19-8 0,-24-12 0,47 22 0,1 0 0,0 1 0,-1 0 0,0 1 0,0 0 0,-23-4 0,2 5-53,14 1-384,-1 0-1,-22-7 1,20 3-6389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1:43:50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1 140 24575,'0'-1'0,"0"0"0,1 0 0,-1 0 0,0 0 0,1 0 0,-1 0 0,1 0 0,0 0 0,-1 0 0,1 0 0,0 0 0,-1 0 0,1 0 0,0 1 0,0-1 0,0 0 0,0 0 0,0 1 0,0-1 0,0 1 0,0-1 0,0 1 0,0-1 0,0 1 0,0 0 0,3-1 0,33-6 0,-34 7 0,53-4-585,78 5-1,30-2-351,-69-14 493,-63 9 179,42-3 0,18 8 265,-56 2 0,0-2 0,0-1 0,38-8 0,-25 1 0,0 3 0,0 2 0,57 3 0,-87 0-95,0-1 0,0-1-1,27-7 1,-23 4 238,42-4 0,298 7 3108,-187 6-3325,713-3 74,-870 1 0,1 1 0,-1 1 0,26 7 0,-23-4 0,44 4 0,297-7 0,-186-5 0,1378 2 0,-1536-1 0,1-1 0,-1-1 0,26-8 0,-23 6 0,44-6 0,84 11 0,16-1 0,-139-4-1365,-7-2-5461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19B69-8542-45FA-9CE7-6CC065FF9AD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6FA4A-3A2C-4298-AC48-DC34476DB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AdventureWork | Azure (Data Lake, Data Factory, Synapse Analytics), Databricks, Power BI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 automated pipelines using Azure Data Factory to ingest 75,000+ records from GitHub into Bronze layer via HTTP connector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Performed data transformation using Databricks (PySpark) to load cleaned data into Silver layer and designed a Fact Constellation Schema (2 Facts, 4 Dims) on Synapse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 a Power BI dashboard to present sales performance, return trends, and territory distribution by connecting to Gold layer	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0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1672-455B-BB8F-5813-FF2F7E07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E4F4F-6F03-0D29-E5F1-F5EC5F16C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3D876-5C49-C282-0394-CD5F1A05E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415EE-C5EF-DAA9-35BA-20BDFEAC2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4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F785-4BBD-76BA-D4B4-CA3B4960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BDAD3-8415-3551-2D06-96B963848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BAD9D-D918-3D51-2F78-937A7A3E4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upload all files data into GitHub and then use azure data factory to move it to destination which is bronze layer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B2B87-C265-9A3F-ADD8-115CFE827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80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894F-FF46-075F-9CCB-C68E060F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101A0-DEB0-0EFF-518A-F9401D72F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3871A-7BA7-1114-D418-BC7AD4954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E7AE-8534-656B-7E3F-584880CB1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92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D7A9-0A5C-FB28-E269-C40090DC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8FF55-0A1E-751C-223B-FAA5833F0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9BBD9-32F2-764E-0B8F-AADFFB72C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D2855-93CF-4683-1A6D-9416CF4C3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4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E1557-084D-0F4E-372F-820878EC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1C994-E53A-5DB7-B168-7684B3DD5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04C68-FA28-FD71-F021-FED3ECD0C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A1A4D-FA4F-109C-0E71-C4691B739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04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4825-81F8-DCAA-70B0-E580B880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E72CC-8515-2A1E-A884-D7FB15821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AD71A-940B-66EE-C5CF-C0396CA9F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have just pull 1 folder products into our bronze (static), but we have 8 9 folders left to pull, </a:t>
            </a:r>
            <a:r>
              <a:rPr lang="en-US">
                <a:sym typeface="Wingdings" panose="05000000000000000000" pitchFamily="2" charset="2"/>
              </a:rPr>
              <a:t> need to build a dynamic pipeline </a:t>
            </a: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CC1C1-4F1B-116D-0B9F-8A809BCF3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63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14F7-A7A0-A8C4-9394-45E7DEC9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CCDFC-ED02-83AB-73B0-F2F3DAE01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A702C-5407-3D81-E78C-8B19BA032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have just pull 1 folder products into our bronze (static), but we have 8 9 folders left to pull, </a:t>
            </a:r>
            <a:r>
              <a:rPr lang="en-US">
                <a:sym typeface="Wingdings" panose="05000000000000000000" pitchFamily="2" charset="2"/>
              </a:rPr>
              <a:t> need to build a dynamic pipeline </a:t>
            </a: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AD5E8-462C-BCB3-148D-C080367FA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54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0750-3823-6642-4C6C-F74B5E729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86229-C8B4-F6E8-6AC9-E0E1D13D0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B70F2-0232-5C49-4AA7-DE719C46A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29FCE-4707-80E8-EF74-D8A5A33B4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73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307E-5AAB-B931-0111-C1ADC1AC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0A10F-89F6-0F83-448E-585FEA673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05D7A-1E86-D234-8642-2E7F3ADB1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258D0-9017-462F-79E2-77FA12A84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27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0D07-CB7E-254F-6410-D74C68F7A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C13DD-543E-FF37-88D7-EDF73C252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4202E-7DEE-C7CE-6092-94F88F935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F82CB-042F-2BFA-0A7A-B79DA5574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70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90338-84F6-2C14-B0AF-0B1B50BC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F614-E528-18E2-C2DA-E0622F197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DC4A3-2309-73D7-A117-1D2D52751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16B2D-6368-4B32-C69D-BB1A6BB40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54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EAC66-5377-AA7A-5BE5-896F2F39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6D55D-E2C1-EA2D-DDC4-9368AA3F2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537F0-C5A9-AA6B-DA3A-FA00C1679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Our resource which is Data Lake is not linked which Data Bricks  how we use Data Bricks to access Data Lake. We need permission</a:t>
            </a:r>
          </a:p>
          <a:p>
            <a:r>
              <a:rPr lang="en-US">
                <a:sym typeface="Wingdings" panose="05000000000000000000" pitchFamily="2" charset="2"/>
              </a:rPr>
              <a:t>Application ID:</a:t>
            </a:r>
          </a:p>
          <a:p>
            <a:r>
              <a:rPr lang="en-US">
                <a:sym typeface="Wingdings" panose="05000000000000000000" pitchFamily="2" charset="2"/>
              </a:rPr>
              <a:t>Object ID:</a:t>
            </a:r>
          </a:p>
          <a:p>
            <a:r>
              <a:rPr lang="en-US">
                <a:sym typeface="Wingdings" panose="05000000000000000000" pitchFamily="2" charset="2"/>
              </a:rPr>
              <a:t>Directory ID:</a:t>
            </a:r>
          </a:p>
          <a:p>
            <a:r>
              <a:rPr lang="en-US">
                <a:sym typeface="Wingdings" panose="05000000000000000000" pitchFamily="2" charset="2"/>
              </a:rPr>
              <a:t>Secret ID:</a:t>
            </a:r>
          </a:p>
          <a:p>
            <a:r>
              <a:rPr lang="en-US">
                <a:sym typeface="Wingdings" panose="05000000000000000000" pitchFamily="2" charset="2"/>
              </a:rPr>
              <a:t>Value:</a:t>
            </a:r>
          </a:p>
          <a:p>
            <a:r>
              <a:rPr lang="en-US">
                <a:sym typeface="Wingdings" panose="05000000000000000000" pitchFamily="2" charset="2"/>
              </a:rPr>
              <a:t>ID: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9AEA7-4C44-9CC1-F437-3A55C8242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10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2DEA-85B6-0771-7471-386338A8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84F19-B007-0A31-8229-B1BB4B990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EA5B3-E990-9CAC-D376-8C84B22B1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3CD94-F698-7702-FFA3-AFAC66143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76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5E67-C9D5-0D94-1E16-EAF16C00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45339-518C-9592-41B9-137C635FD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0F09F-8CBD-0978-8572-9DFEB9E74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1D431-2018-2EB1-D9F3-AE9B36527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37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5687-1DC5-4BC7-0B0E-72DFEAAA1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32847-65E0-4266-A755-25824B8E1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23C60-047F-BB4D-8D26-094F4AB64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206A0-7F2B-657F-C550-2EA490C43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98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2CD3-D9E1-22C7-72F4-E5A5581C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EB36F-4C31-6E0E-FED0-E86FCF437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6227F-17EB-687C-046D-81766AB88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05742-2E0D-86B1-FE43-2074469C7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38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F584-52D1-9666-BFE8-AA1833D3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CD1DC-D69A-AEDE-FBBD-AEB8D589F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ABDA3-2544-2E48-7C96-38FD0A440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763CD-8FEE-F4E0-4C96-478792EAB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49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73D0-F891-7B21-65AB-1802BC62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8850A-7A09-9AFC-BCD9-CDEFEEFDB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67FCA-DF41-0B34-3F7C-647AAA0BE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400CD-8DCA-DED5-EA86-EC5F9E9C5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589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A697-409B-836B-6086-CC960E215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1BF48-FB1B-3BF2-3FD5-FC7A8962F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3DF97-AEFF-0B9E-65D8-DC99DB1F3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C0468-0E5E-4EFB-DFBB-8E9C1842D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7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59A9-9F5C-3689-0B5D-6C79D300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F76EA-B07A-E6B7-DD9F-28C8309C8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5C571-4853-6ADE-F31A-220745012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A9441-59BA-C2EE-CB8B-311C4D453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607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A8D7-724B-3D8D-2CF9-B9508581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7E718-1205-7268-79B2-C8BE903F0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EBD55-F70A-7693-4D60-625A9B7A5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BBEF0-92FE-BADF-B884-69ED4326A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78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F1F4-8FFA-02E3-32E0-92A9E312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763AF-CBB2-C921-F85D-D8ECF3E77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A9B8A-5799-5AE6-1B9A-7ED883339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F2203-E932-95E3-546A-BEB3BAB2E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613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C827-ACDB-0645-897F-DDE0D72B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E3E84-133E-ACBD-2C87-7430ADB21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7BFC8-E2E0-14C4-AD77-0A24C0CD7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D836F-862A-85BF-31B8-BA653DBFC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802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2902-A5EC-1CE5-A60C-C02764B1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549D7-249E-2482-B80A-78FF1C4EE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B7AEA-2F95-A24E-E22A-08224ADEA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Wingdings" panose="05000000000000000000" pitchFamily="2" charset="2"/>
              </a:rPr>
              <a:t>Keywords to search:  Access Data Lake using Data Bricks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26DE4-1EEA-E989-54B7-C6CD0BA7F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480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7DA43-3639-A39D-3B47-32769FD5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D8CF8-D40F-930E-DE36-A7E8CB0B3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A4941-1F29-ADBC-A5D4-A71962452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736EB-91BD-0250-B8D0-5AE0D152F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6FA4A-3A2C-4298-AC48-DC34476DB68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54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E7FD-629D-B258-7CA0-57774EC8A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D0ED7-EEAA-6585-D369-54EEC0593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31BD-8DB4-F47B-BAB7-3146FFEF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63737-F456-2B4B-BE9A-B417049A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D4213-A065-72C3-29AF-AEC20227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01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D64D6-4A68-8E8F-FFC2-016A8B21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9A9B-6F05-D9F1-1FCA-05F10A22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C0F14-879F-7A03-FDE9-DAECBBFF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A0821-2808-BEC9-B2D3-907CC780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28F1C-1BCA-F6A0-E481-017346E2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7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0D15-94A0-DDE6-5413-4437C107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F613F-070B-416A-F9FE-079286E98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9788E-E38D-5FB0-C5F0-6413624B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E5C9D-01F1-5E9F-B0BB-69A8B7D3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799F8-6835-B337-79FA-9D8AAD26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2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CC5D-4F89-26BB-3E02-97126811D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D98B-C3CA-BEDB-2B96-F9E8833A5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DE42B-F2D2-7545-E2EE-B0CED7EC4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C1047-F45F-5105-F152-053A9F44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82C90-846C-AC45-A284-790DC0F0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3DEAA-105B-8DD3-6B3F-59014B8E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1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63F1-C4D0-C495-2DA3-DF80CD80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DEBEE-72B8-D4D3-52C7-8B829BB63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2B396-19D6-8634-AB55-AFA443199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C74A9-F19A-F97D-ECAB-D695A096B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8489F-D8DF-24B3-8E2C-532475705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A0AEA-EDB2-FB5C-F4AA-A84B30F4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AC85B-9722-D471-8A47-BC6F59B5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5918C-ACDA-DE57-B90C-17F80B65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1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A6C5-209F-EB71-0F34-AD43E4CD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DE9E8-BD24-0A81-B32E-EC981BE5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3D637-6788-A11C-753A-25F02D69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606AF-9868-CCA3-38B6-70FEE575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2CB76-EB1B-F596-548D-D3BE9FAF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98CD3-434E-EBD0-964D-39FE51DA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554DF-2D73-D297-C885-E0031C85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94F3-5B5F-320E-86D2-9BF78A71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DC4D-AA0B-992E-BD0A-721954A93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D3576-FFD6-F3C1-CD44-E72370FC6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83261-E26C-4601-0E9B-A8A9C47E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FFDFF-CD3D-63CF-6B11-41D48C48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9BCFD-30C0-E709-6A5D-3B054D99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2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9A60-B49C-107E-742F-30BFB6CF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85124-A685-BFD5-9982-F8B2FA152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D677C-FA2D-DA97-AB56-CF49F24EC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6CB22-F6BD-3EE9-9ABE-40BA6249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5C455-3058-1B2C-3AA9-D983850F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5BF18-250B-AC5F-F3CB-41924C4E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1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8313-A3D8-88D4-CB28-59C1D995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10EB9-994A-9ABC-96DF-9D404CA08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ED1C0-239B-131E-94D8-4730A37F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3986F-3DC7-C0AA-4DAF-F871CE47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7C6EE-647D-FF97-ED09-A8083F50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0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FC550-3AA6-F7E3-8BC8-FCE4A75AC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E40EC-92CC-70FA-6162-FC51732AC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18E54-F2B1-BAE2-E14F-BA1D61F3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8277-D5FB-0FE6-5620-F2229E21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045FA-41A2-D247-2977-68BFFFEC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5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27BCF-A69A-100C-385A-54230145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C006D-F173-DCFB-FB3E-6CB79BE80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3F00-6115-F812-1297-F26C8EAF7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11E39-2173-475A-A87C-73A33A099E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98875-485B-BBE9-1268-F6F18D2A7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4094C-9FA8-ABA9-A505-F0B994418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0D704-E9E1-4150-A5A9-618F18F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0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customXml" Target="../ink/ink3.xml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1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customXml" Target="../ink/ink5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11.xml"/><Relationship Id="rId18" Type="http://schemas.openxmlformats.org/officeDocument/2006/relationships/image" Target="../media/image49.png"/><Relationship Id="rId26" Type="http://schemas.openxmlformats.org/officeDocument/2006/relationships/image" Target="../media/image53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46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customXml" Target="../ink/ink10.xml"/><Relationship Id="rId24" Type="http://schemas.openxmlformats.org/officeDocument/2006/relationships/image" Target="../media/image52.png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54.png"/><Relationship Id="rId10" Type="http://schemas.openxmlformats.org/officeDocument/2006/relationships/image" Target="../media/image45.png"/><Relationship Id="rId19" Type="http://schemas.openxmlformats.org/officeDocument/2006/relationships/customXml" Target="../ink/ink14.xml"/><Relationship Id="rId31" Type="http://schemas.openxmlformats.org/officeDocument/2006/relationships/image" Target="../media/image13.png"/><Relationship Id="rId4" Type="http://schemas.openxmlformats.org/officeDocument/2006/relationships/image" Target="../media/image42.png"/><Relationship Id="rId9" Type="http://schemas.openxmlformats.org/officeDocument/2006/relationships/customXml" Target="../ink/ink9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Relationship Id="rId27" Type="http://schemas.openxmlformats.org/officeDocument/2006/relationships/customXml" Target="../ink/ink18.xml"/><Relationship Id="rId30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customXml" Target="../ink/ink2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3.png"/><Relationship Id="rId7" Type="http://schemas.openxmlformats.org/officeDocument/2006/relationships/customXml" Target="../ink/ink2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customXml" Target="../ink/ink21.xml"/><Relationship Id="rId10" Type="http://schemas.openxmlformats.org/officeDocument/2006/relationships/image" Target="../media/image59.png"/><Relationship Id="rId4" Type="http://schemas.openxmlformats.org/officeDocument/2006/relationships/image" Target="../media/image56.png"/><Relationship Id="rId9" Type="http://schemas.openxmlformats.org/officeDocument/2006/relationships/customXml" Target="../ink/ink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F07ED4-0AB9-B3DB-52E2-172D8EDF726A}"/>
              </a:ext>
            </a:extLst>
          </p:cNvPr>
          <p:cNvSpPr txBox="1"/>
          <p:nvPr/>
        </p:nvSpPr>
        <p:spPr>
          <a:xfrm>
            <a:off x="3812811" y="2998113"/>
            <a:ext cx="456637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/>
              <a:t>Adventure Work</a:t>
            </a:r>
          </a:p>
        </p:txBody>
      </p:sp>
    </p:spTree>
    <p:extLst>
      <p:ext uri="{BB962C8B-B14F-4D97-AF65-F5344CB8AC3E}">
        <p14:creationId xmlns:p14="http://schemas.microsoft.com/office/powerpoint/2010/main" val="73641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6ECA-FB9A-8A07-4243-A00379171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1CE396-51D3-D72E-5142-D395348DE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290177"/>
            <a:ext cx="11334750" cy="516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81218B-09C1-C756-AC55-E06D2F0EB673}"/>
              </a:ext>
            </a:extLst>
          </p:cNvPr>
          <p:cNvSpPr txBox="1"/>
          <p:nvPr/>
        </p:nvSpPr>
        <p:spPr>
          <a:xfrm>
            <a:off x="4673527" y="560439"/>
            <a:ext cx="284494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Data Architecture</a:t>
            </a:r>
            <a:endParaRPr lang="en-US" sz="2500" b="1"/>
          </a:p>
        </p:txBody>
      </p:sp>
    </p:spTree>
    <p:extLst>
      <p:ext uri="{BB962C8B-B14F-4D97-AF65-F5344CB8AC3E}">
        <p14:creationId xmlns:p14="http://schemas.microsoft.com/office/powerpoint/2010/main" val="3195155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989E1-DB5B-A0B2-FD9E-2A7B250F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9EE218-BD5B-1F38-7CF6-F7EBA62CFE66}"/>
              </a:ext>
            </a:extLst>
          </p:cNvPr>
          <p:cNvSpPr txBox="1"/>
          <p:nvPr/>
        </p:nvSpPr>
        <p:spPr>
          <a:xfrm>
            <a:off x="5124940" y="467841"/>
            <a:ext cx="29134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/>
              <a:t>Table of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42A73-CF81-9538-0780-8399BCFB7C7C}"/>
              </a:ext>
            </a:extLst>
          </p:cNvPr>
          <p:cNvSpPr txBox="1"/>
          <p:nvPr/>
        </p:nvSpPr>
        <p:spPr>
          <a:xfrm>
            <a:off x="866211" y="1021839"/>
            <a:ext cx="769819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1: Pulling data from data source to bronze source  </a:t>
            </a:r>
            <a:endParaRPr lang="en-US" sz="25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450AA-B0F4-CFF6-C0C5-4B4E89BD2728}"/>
              </a:ext>
            </a:extLst>
          </p:cNvPr>
          <p:cNvSpPr txBox="1"/>
          <p:nvPr/>
        </p:nvSpPr>
        <p:spPr>
          <a:xfrm>
            <a:off x="866211" y="1575837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</a:t>
            </a:r>
            <a:r>
              <a:rPr lang="en-US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vi-VN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 with Data Bricks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0833D-F21D-452C-B466-595C17FB47A7}"/>
              </a:ext>
            </a:extLst>
          </p:cNvPr>
          <p:cNvSpPr txBox="1"/>
          <p:nvPr/>
        </p:nvSpPr>
        <p:spPr>
          <a:xfrm>
            <a:off x="866211" y="2209845"/>
            <a:ext cx="54151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</a:t>
            </a:r>
            <a:r>
              <a:rPr lang="en-US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vi-VN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500" b="1"/>
              <a:t>Data Warehouse with Synapse</a:t>
            </a:r>
            <a:endParaRPr lang="en-US" sz="25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66DEE-C923-1885-6D34-BFBBF1769180}"/>
              </a:ext>
            </a:extLst>
          </p:cNvPr>
          <p:cNvSpPr txBox="1"/>
          <p:nvPr/>
        </p:nvSpPr>
        <p:spPr>
          <a:xfrm>
            <a:off x="860208" y="2843853"/>
            <a:ext cx="52357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</a:t>
            </a:r>
            <a:r>
              <a:rPr lang="en-US"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4:</a:t>
            </a:r>
            <a:r>
              <a:rPr lang="en-US" sz="2500" b="1"/>
              <a:t> Connect Synapse to Power BI</a:t>
            </a:r>
            <a:endParaRPr lang="en-US" sz="25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96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434E0-4DC5-435D-761D-AAC94405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3D6121-74B1-D293-78C9-05D4741DFDF1}"/>
              </a:ext>
            </a:extLst>
          </p:cNvPr>
          <p:cNvSpPr txBox="1"/>
          <p:nvPr/>
        </p:nvSpPr>
        <p:spPr>
          <a:xfrm>
            <a:off x="4399558" y="498100"/>
            <a:ext cx="406713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Data Understanding (API)</a:t>
            </a:r>
            <a:endParaRPr lang="en-US" sz="25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BDAE8-A751-5B0C-C640-B698CFE8A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54" y="1455576"/>
            <a:ext cx="6745782" cy="4925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E0902F-636B-3F20-2149-5D8F4F61E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43" y="975154"/>
            <a:ext cx="3343742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8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75C6-AD77-5FE5-6D2A-680A3F05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5A2E97-2167-0D3E-278F-9F58F5E67770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87F99-D261-9F16-FFA2-B1D540C63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460" y="1300543"/>
            <a:ext cx="4595765" cy="52139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03D720-C65D-9663-DC15-860C5351963C}"/>
              </a:ext>
            </a:extLst>
          </p:cNvPr>
          <p:cNvSpPr/>
          <p:nvPr/>
        </p:nvSpPr>
        <p:spPr>
          <a:xfrm>
            <a:off x="7231470" y="5058592"/>
            <a:ext cx="1362269" cy="886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5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7621-A155-5B9F-CB54-0126F3D9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8414A9-6172-4616-EF27-B90177368B36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3BB5F4-A611-406A-24F8-C125D9C08EC0}"/>
              </a:ext>
            </a:extLst>
          </p:cNvPr>
          <p:cNvGrpSpPr/>
          <p:nvPr/>
        </p:nvGrpSpPr>
        <p:grpSpPr>
          <a:xfrm>
            <a:off x="465476" y="994912"/>
            <a:ext cx="4848204" cy="3042219"/>
            <a:chOff x="455316" y="1218432"/>
            <a:chExt cx="4848204" cy="30422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598A17-1E94-EE06-3819-03643030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316" y="1618542"/>
              <a:ext cx="4848204" cy="264210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C47FED-03D6-CF88-850C-9B33ACB416E2}"/>
                </a:ext>
              </a:extLst>
            </p:cNvPr>
            <p:cNvSpPr txBox="1"/>
            <p:nvPr/>
          </p:nvSpPr>
          <p:spPr>
            <a:xfrm>
              <a:off x="455316" y="1218432"/>
              <a:ext cx="31742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2000"/>
                <a:t>1.1 Create resource group</a:t>
              </a:r>
              <a:endParaRPr lang="en-US" sz="20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E0C7951-6DF2-1372-4701-31FBFD571156}"/>
              </a:ext>
            </a:extLst>
          </p:cNvPr>
          <p:cNvSpPr txBox="1"/>
          <p:nvPr/>
        </p:nvSpPr>
        <p:spPr>
          <a:xfrm>
            <a:off x="465475" y="3931152"/>
            <a:ext cx="4725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/>
              <a:t>1.2 Create Data Lake (Storage account)</a:t>
            </a:r>
            <a:endParaRPr lang="en-US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D40CA6-C414-1ACE-2324-E24828999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75" y="4273054"/>
            <a:ext cx="5163166" cy="25849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8A26B5-9766-5E95-EE78-4AB5BC49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176" y="1217337"/>
            <a:ext cx="6222348" cy="28197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8E3620-36DF-5D3A-0F42-206FF0FB7427}"/>
              </a:ext>
            </a:extLst>
          </p:cNvPr>
          <p:cNvSpPr/>
          <p:nvPr/>
        </p:nvSpPr>
        <p:spPr>
          <a:xfrm>
            <a:off x="5628641" y="3164493"/>
            <a:ext cx="1231904" cy="660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E1517-3967-8AD9-A36A-6750A6C4FCDA}"/>
              </a:ext>
            </a:extLst>
          </p:cNvPr>
          <p:cNvSpPr txBox="1"/>
          <p:nvPr/>
        </p:nvSpPr>
        <p:spPr>
          <a:xfrm>
            <a:off x="5892639" y="4233811"/>
            <a:ext cx="62223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/>
              <a:t>LRS – Locally-redundant storage: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/>
              <a:t>Store 3 replicate in 1 data center (1 region)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/>
              <a:t>Lower cost</a:t>
            </a:r>
          </a:p>
          <a:p>
            <a:r>
              <a:rPr lang="vi-VN" sz="2000"/>
              <a:t>GRS – Geo-redundant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/>
              <a:t>Store 3 replicate in main region, 3 replicate in secondary region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/>
              <a:t>Higher cost, protect data from disaster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13986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A1867-C097-8349-911F-EE6E1254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528FFA-8A4D-55F3-F01E-529159B1F7A2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48C22A-4686-88B3-18B3-502AE6148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27" y="1748054"/>
            <a:ext cx="5740073" cy="4682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87F6F7-FA5F-67CD-C338-0EBDCEE66905}"/>
              </a:ext>
            </a:extLst>
          </p:cNvPr>
          <p:cNvSpPr txBox="1"/>
          <p:nvPr/>
        </p:nvSpPr>
        <p:spPr>
          <a:xfrm>
            <a:off x="465476" y="994912"/>
            <a:ext cx="2988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/>
              <a:t>1.3 Create Data Factory</a:t>
            </a:r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6148B-6E43-B85D-26AF-278CE7D227F2}"/>
              </a:ext>
            </a:extLst>
          </p:cNvPr>
          <p:cNvSpPr txBox="1"/>
          <p:nvPr/>
        </p:nvSpPr>
        <p:spPr>
          <a:xfrm>
            <a:off x="7150756" y="994912"/>
            <a:ext cx="4086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/>
              <a:t>1.4 Create container in Data Lake </a:t>
            </a:r>
            <a:endParaRPr lang="en-US" sz="20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7E3B441-9B08-698D-64C0-26209909E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929" y="1569332"/>
            <a:ext cx="4634632" cy="470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12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1AB8-57D1-744C-2678-4E3222F6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77E967-A269-26EB-EDF9-4C6E65704A1C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5D973E-DC34-F103-26DB-41F8042389BD}"/>
              </a:ext>
            </a:extLst>
          </p:cNvPr>
          <p:cNvSpPr txBox="1"/>
          <p:nvPr/>
        </p:nvSpPr>
        <p:spPr>
          <a:xfrm>
            <a:off x="465476" y="994912"/>
            <a:ext cx="7296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/>
              <a:t>1.5 We want to pull data from GitHub to our Azure Data Factory</a:t>
            </a:r>
          </a:p>
          <a:p>
            <a:r>
              <a:rPr lang="vi-VN" sz="2000"/>
              <a:t> 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6532BB-DF26-17A6-8B91-EE118F0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6" y="1873313"/>
            <a:ext cx="5793084" cy="3111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5EA6A9-434A-1932-B6EC-1376D08C3B59}"/>
              </a:ext>
            </a:extLst>
          </p:cNvPr>
          <p:cNvSpPr txBox="1"/>
          <p:nvPr/>
        </p:nvSpPr>
        <p:spPr>
          <a:xfrm>
            <a:off x="871876" y="1348855"/>
            <a:ext cx="42146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/>
              <a:t>1.5.1 Create an activity ‘Copy Data’</a:t>
            </a:r>
          </a:p>
          <a:p>
            <a:r>
              <a:rPr lang="vi-VN" sz="2000"/>
              <a:t> </a:t>
            </a:r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D314DE-CBAE-7C49-C9E9-BB44A994081F}"/>
              </a:ext>
            </a:extLst>
          </p:cNvPr>
          <p:cNvSpPr txBox="1"/>
          <p:nvPr/>
        </p:nvSpPr>
        <p:spPr>
          <a:xfrm>
            <a:off x="585286" y="5155201"/>
            <a:ext cx="44071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/>
              <a:t>In ‘Copy Data’ we have 2 main things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/>
              <a:t>Source: where data is located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/>
              <a:t>Sink: where data destination</a:t>
            </a:r>
            <a:endParaRPr lang="en-US" sz="2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706362-FA14-845B-BE35-F66E7139D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669" y="2265952"/>
            <a:ext cx="5382376" cy="18195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836585-E0F6-C01A-D90C-AF7E5F03D87F}"/>
              </a:ext>
            </a:extLst>
          </p:cNvPr>
          <p:cNvSpPr txBox="1"/>
          <p:nvPr/>
        </p:nvSpPr>
        <p:spPr>
          <a:xfrm>
            <a:off x="6664960" y="1383756"/>
            <a:ext cx="505779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/>
              <a:t>1.5.2 Create 2 linked services</a:t>
            </a:r>
          </a:p>
          <a:p>
            <a:r>
              <a:rPr lang="vi-VN" sz="2000"/>
              <a:t>Httplinkedservice: url where data is located</a:t>
            </a:r>
          </a:p>
          <a:p>
            <a:r>
              <a:rPr lang="vi-VN" sz="2000"/>
              <a:t>Storagedatalake: destination of data</a:t>
            </a:r>
          </a:p>
          <a:p>
            <a:r>
              <a:rPr lang="vi-VN" sz="2000"/>
              <a:t> </a:t>
            </a:r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DA040-E92D-E126-1C71-F067B2FD3D45}"/>
              </a:ext>
            </a:extLst>
          </p:cNvPr>
          <p:cNvSpPr txBox="1"/>
          <p:nvPr/>
        </p:nvSpPr>
        <p:spPr>
          <a:xfrm>
            <a:off x="6711959" y="3589391"/>
            <a:ext cx="4963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ym typeface="Wingdings" panose="05000000000000000000" pitchFamily="2" charset="2"/>
              </a:rPr>
              <a:t> Link to source and sink for data streaming </a:t>
            </a:r>
            <a:r>
              <a:rPr lang="vi-VN" sz="2000"/>
              <a:t> 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976AD-ADD8-F5B2-CCD3-D484ED0DF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959" y="4085481"/>
            <a:ext cx="3912673" cy="2436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B40289-C764-BB69-1BA1-372A2ACFD4EB}"/>
              </a:ext>
            </a:extLst>
          </p:cNvPr>
          <p:cNvSpPr txBox="1"/>
          <p:nvPr/>
        </p:nvSpPr>
        <p:spPr>
          <a:xfrm>
            <a:off x="5647924" y="6321918"/>
            <a:ext cx="521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ym typeface="Wingdings" panose="05000000000000000000" pitchFamily="2" charset="2"/>
              </a:rPr>
              <a:t>Results in bronze layer we have products folder</a:t>
            </a:r>
            <a:endParaRPr lang="en-US" sz="2000" b="1"/>
          </a:p>
        </p:txBody>
      </p:sp>
      <p:pic>
        <p:nvPicPr>
          <p:cNvPr id="1026" name="Picture 2" descr="Check Icon PNG pour téléchargement gratuit">
            <a:extLst>
              <a:ext uri="{FF2B5EF4-FFF2-40B4-BE49-F238E27FC236}">
                <a16:creationId xmlns:a16="http://schemas.microsoft.com/office/drawing/2014/main" id="{57B27EDC-9A6E-314D-1429-055D1D347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9031" y="6029689"/>
            <a:ext cx="584457" cy="5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17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0D9B-4315-6A7C-8462-95A8D197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5E9842-43D7-E4AD-89E7-D3D246D3265D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pic>
        <p:nvPicPr>
          <p:cNvPr id="2050" name="Picture 2" descr="Question or solution idea icon in line art. 25096788 Vector Art at Vecteezy">
            <a:extLst>
              <a:ext uri="{FF2B5EF4-FFF2-40B4-BE49-F238E27FC236}">
                <a16:creationId xmlns:a16="http://schemas.microsoft.com/office/drawing/2014/main" id="{F698702D-AC79-6F81-5C3B-1FD26FEA6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73" y="1209255"/>
            <a:ext cx="730080" cy="8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20CC8E-FD50-C0B3-DDAA-2390C18325A6}"/>
              </a:ext>
            </a:extLst>
          </p:cNvPr>
          <p:cNvSpPr txBox="1"/>
          <p:nvPr/>
        </p:nvSpPr>
        <p:spPr>
          <a:xfrm>
            <a:off x="1411138" y="1319089"/>
            <a:ext cx="10311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We just have create a static copy data which copy product file into our bronze layer, we have 9 files left to pull out to bronze layer. So do we need to create 9 copy activity for each file 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E03A9-8FC0-04E7-AB24-A469F7200BBC}"/>
              </a:ext>
            </a:extLst>
          </p:cNvPr>
          <p:cNvSpPr txBox="1"/>
          <p:nvPr/>
        </p:nvSpPr>
        <p:spPr>
          <a:xfrm>
            <a:off x="1411137" y="2390809"/>
            <a:ext cx="10311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We have to use an activity call ‘For Each’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32DB4A-57D9-9D4B-D981-F341DADC5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347" y="2174305"/>
            <a:ext cx="1877531" cy="107391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5F819F-E18B-3112-3EF9-AE2A512A6415}"/>
              </a:ext>
            </a:extLst>
          </p:cNvPr>
          <p:cNvSpPr txBox="1"/>
          <p:nvPr/>
        </p:nvSpPr>
        <p:spPr>
          <a:xfrm>
            <a:off x="7624583" y="2419406"/>
            <a:ext cx="4825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To iterate through our file and then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6DF705-A84E-84AA-6018-4616F9A4FD7B}"/>
              </a:ext>
            </a:extLst>
          </p:cNvPr>
          <p:cNvSpPr txBox="1"/>
          <p:nvPr/>
        </p:nvSpPr>
        <p:spPr>
          <a:xfrm>
            <a:off x="1425278" y="2743851"/>
            <a:ext cx="10311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create a folder for each file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46FBE5-1CA7-9901-B0A4-2B9BF997FECD}"/>
              </a:ext>
            </a:extLst>
          </p:cNvPr>
          <p:cNvSpPr txBox="1"/>
          <p:nvPr/>
        </p:nvSpPr>
        <p:spPr>
          <a:xfrm>
            <a:off x="397650" y="2439534"/>
            <a:ext cx="110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Solution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491329-41A5-3377-F1D4-BB871E975BEF}"/>
              </a:ext>
            </a:extLst>
          </p:cNvPr>
          <p:cNvSpPr txBox="1"/>
          <p:nvPr/>
        </p:nvSpPr>
        <p:spPr>
          <a:xfrm>
            <a:off x="397650" y="3448278"/>
            <a:ext cx="53376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There are 3 parameters we have to pass out: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Relative url of dataset location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Sink folder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Sink File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02E135F-A1B4-56D6-817C-2918B17C6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112" y="3572668"/>
            <a:ext cx="4728928" cy="2082689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DA150D-14A0-8952-DB97-FCE6C04F431D}"/>
              </a:ext>
            </a:extLst>
          </p:cNvPr>
          <p:cNvCxnSpPr>
            <a:cxnSpLocks/>
          </p:cNvCxnSpPr>
          <p:nvPr/>
        </p:nvCxnSpPr>
        <p:spPr>
          <a:xfrm>
            <a:off x="4185138" y="3974123"/>
            <a:ext cx="3845170" cy="880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A1B561F9-47A3-2445-ABF2-18EE6F871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865" y="4771717"/>
            <a:ext cx="4877735" cy="1898003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289C0B-5543-AF0B-2F21-B00F392959AB}"/>
              </a:ext>
            </a:extLst>
          </p:cNvPr>
          <p:cNvCxnSpPr>
            <a:cxnSpLocks/>
          </p:cNvCxnSpPr>
          <p:nvPr/>
        </p:nvCxnSpPr>
        <p:spPr>
          <a:xfrm>
            <a:off x="2104702" y="4290646"/>
            <a:ext cx="1552898" cy="1689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7B88328-2354-E895-A7F2-35460A76FAF5}"/>
              </a:ext>
            </a:extLst>
          </p:cNvPr>
          <p:cNvCxnSpPr>
            <a:cxnSpLocks/>
          </p:cNvCxnSpPr>
          <p:nvPr/>
        </p:nvCxnSpPr>
        <p:spPr>
          <a:xfrm>
            <a:off x="1814834" y="4635605"/>
            <a:ext cx="1251664" cy="1694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19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18391-8BD9-8C2A-8D79-13073C06E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1CA297-286D-3D0D-1003-D3D25C1F378B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BCC860-F892-31C8-12EA-40263348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1" y="1630404"/>
            <a:ext cx="6733983" cy="4884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CD0828-BC62-64AF-ED41-DE9E8B9F80E5}"/>
              </a:ext>
            </a:extLst>
          </p:cNvPr>
          <p:cNvSpPr txBox="1"/>
          <p:nvPr/>
        </p:nvSpPr>
        <p:spPr>
          <a:xfrm>
            <a:off x="1425278" y="820602"/>
            <a:ext cx="10311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We then have to create a json file that will store all the parameters we need and upload it to storage accounts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20978F-B5C7-56A3-1955-414C2A574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909" y="2475611"/>
            <a:ext cx="4661184" cy="319363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AE9C60-B450-29E9-7EDD-AFE171901546}"/>
              </a:ext>
            </a:extLst>
          </p:cNvPr>
          <p:cNvCxnSpPr/>
          <p:nvPr/>
        </p:nvCxnSpPr>
        <p:spPr>
          <a:xfrm>
            <a:off x="6389077" y="4072427"/>
            <a:ext cx="691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46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E20D-B997-E2B3-DAAD-23FC9808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EF89DB-2807-09F9-05CA-E1C5645436F1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B1C3F0-8187-BD4D-8103-F2E692C0AC7B}"/>
              </a:ext>
            </a:extLst>
          </p:cNvPr>
          <p:cNvGrpSpPr/>
          <p:nvPr/>
        </p:nvGrpSpPr>
        <p:grpSpPr>
          <a:xfrm>
            <a:off x="0" y="929203"/>
            <a:ext cx="6096000" cy="3996539"/>
            <a:chOff x="0" y="1491911"/>
            <a:chExt cx="6096000" cy="39965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08718B-773B-8966-6935-BD2338C657B2}"/>
                </a:ext>
              </a:extLst>
            </p:cNvPr>
            <p:cNvSpPr txBox="1"/>
            <p:nvPr/>
          </p:nvSpPr>
          <p:spPr>
            <a:xfrm>
              <a:off x="0" y="1491911"/>
              <a:ext cx="55733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/>
                <a:t>In our pipeline, we use an activity call ‘Look Up’ to read data from a source and output in JSON format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400E735-7633-911B-EC83-E7954F65D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75" y="2354288"/>
              <a:ext cx="6087325" cy="3134162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1AC4C-2018-C55D-06FD-87852866E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84" y="4787000"/>
            <a:ext cx="5337906" cy="17274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348749-2980-C5CC-CE43-DE8C664ED321}"/>
              </a:ext>
            </a:extLst>
          </p:cNvPr>
          <p:cNvSpPr txBox="1"/>
          <p:nvPr/>
        </p:nvSpPr>
        <p:spPr>
          <a:xfrm>
            <a:off x="522600" y="6314397"/>
            <a:ext cx="5573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Setting for each received the data from lookup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609244-AD90-28EC-15B2-3EE941223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306" y="1283146"/>
            <a:ext cx="3162741" cy="18957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FB7BB8-8D06-9B7D-7F3B-A3B38CD4242E}"/>
              </a:ext>
            </a:extLst>
          </p:cNvPr>
          <p:cNvSpPr txBox="1"/>
          <p:nvPr/>
        </p:nvSpPr>
        <p:spPr>
          <a:xfrm>
            <a:off x="6410633" y="2883295"/>
            <a:ext cx="5573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In for each, we have copy data activity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A38EBD-D1C3-AC21-5179-574248E96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3358662"/>
            <a:ext cx="5907547" cy="14203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1BF0D8-CC57-6BFE-852A-039623C02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6707" y="4851003"/>
            <a:ext cx="6087325" cy="170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86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BEDC3-BAB3-3390-6B68-6A97F6F8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1E7D95-BBA1-B8C2-6688-52915CEAD150}"/>
              </a:ext>
            </a:extLst>
          </p:cNvPr>
          <p:cNvSpPr txBox="1"/>
          <p:nvPr/>
        </p:nvSpPr>
        <p:spPr>
          <a:xfrm>
            <a:off x="2104702" y="343548"/>
            <a:ext cx="8953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1: Pulling data from data source to bronze source  </a:t>
            </a:r>
            <a:endParaRPr lang="en-US" sz="25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C9292-67B4-2463-CFAB-45D8E2DD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48" y="1223884"/>
            <a:ext cx="9929446" cy="4476049"/>
          </a:xfrm>
          <a:prstGeom prst="rect">
            <a:avLst/>
          </a:prstGeom>
        </p:spPr>
      </p:pic>
      <p:pic>
        <p:nvPicPr>
          <p:cNvPr id="4" name="Picture 2" descr="Check Icon PNG pour téléchargement gratuit">
            <a:extLst>
              <a:ext uri="{FF2B5EF4-FFF2-40B4-BE49-F238E27FC236}">
                <a16:creationId xmlns:a16="http://schemas.microsoft.com/office/drawing/2014/main" id="{67FF2D00-4C39-5CE5-FCC9-A00143F56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9031" y="289846"/>
            <a:ext cx="584457" cy="5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C720E5-AB19-6562-D5A7-DA2E88CB8CCD}"/>
              </a:ext>
            </a:extLst>
          </p:cNvPr>
          <p:cNvSpPr txBox="1"/>
          <p:nvPr/>
        </p:nvSpPr>
        <p:spPr>
          <a:xfrm>
            <a:off x="655829" y="5864688"/>
            <a:ext cx="115361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/>
              <a:t>Phase 1 Done when we have pulled our data dynamically from Git to our Bronze layer</a:t>
            </a:r>
          </a:p>
        </p:txBody>
      </p:sp>
    </p:spTree>
    <p:extLst>
      <p:ext uri="{BB962C8B-B14F-4D97-AF65-F5344CB8AC3E}">
        <p14:creationId xmlns:p14="http://schemas.microsoft.com/office/powerpoint/2010/main" val="3687218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E8FF-7617-3F6D-4C33-1779DD7B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3C45FE-2AD1-D84A-A7F6-1DB9D63856A2}"/>
              </a:ext>
            </a:extLst>
          </p:cNvPr>
          <p:cNvSpPr txBox="1"/>
          <p:nvPr/>
        </p:nvSpPr>
        <p:spPr>
          <a:xfrm>
            <a:off x="3030843" y="582763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2</a:t>
            </a:r>
            <a:r>
              <a:rPr lang="vi-VN" sz="2500" b="1"/>
              <a:t>: </a:t>
            </a:r>
            <a:r>
              <a:rPr lang="en-US" sz="2500" b="1"/>
              <a:t>Data transformation with Data Bricks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8A7C1C-A426-832D-5D4B-4D3DA56CE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4" t="29042" r="25867"/>
          <a:stretch>
            <a:fillRect/>
          </a:stretch>
        </p:blipFill>
        <p:spPr>
          <a:xfrm>
            <a:off x="2430683" y="1608881"/>
            <a:ext cx="7496478" cy="42594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6DC2A9-E8B8-E617-3F9C-0316B8DF3A57}"/>
              </a:ext>
            </a:extLst>
          </p:cNvPr>
          <p:cNvSpPr/>
          <p:nvPr/>
        </p:nvSpPr>
        <p:spPr>
          <a:xfrm>
            <a:off x="2268638" y="1145894"/>
            <a:ext cx="1909823" cy="2395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BF2EC-4522-627F-E3EA-FD43AD2E8C92}"/>
              </a:ext>
            </a:extLst>
          </p:cNvPr>
          <p:cNvSpPr/>
          <p:nvPr/>
        </p:nvSpPr>
        <p:spPr>
          <a:xfrm>
            <a:off x="3998378" y="1145894"/>
            <a:ext cx="870415" cy="1091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E95F76-F59E-4542-55F8-A241CF6586F9}"/>
              </a:ext>
            </a:extLst>
          </p:cNvPr>
          <p:cNvSpPr/>
          <p:nvPr/>
        </p:nvSpPr>
        <p:spPr>
          <a:xfrm>
            <a:off x="9535765" y="3386328"/>
            <a:ext cx="1909823" cy="2395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35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8375-BD41-554B-9D04-FB6DA183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F958FA-1C30-A4C6-7AC9-C63C708036A4}"/>
              </a:ext>
            </a:extLst>
          </p:cNvPr>
          <p:cNvSpPr txBox="1"/>
          <p:nvPr/>
        </p:nvSpPr>
        <p:spPr>
          <a:xfrm>
            <a:off x="3030843" y="582763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2</a:t>
            </a:r>
            <a:r>
              <a:rPr lang="vi-VN" sz="2500" b="1"/>
              <a:t>: </a:t>
            </a:r>
            <a:r>
              <a:rPr lang="en-US" sz="2500" b="1"/>
              <a:t>Data transformation with Data Bricks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EE5E76-CBB3-05E7-F171-6065BB866EFC}"/>
              </a:ext>
            </a:extLst>
          </p:cNvPr>
          <p:cNvSpPr/>
          <p:nvPr/>
        </p:nvSpPr>
        <p:spPr>
          <a:xfrm>
            <a:off x="2268638" y="1145894"/>
            <a:ext cx="1909823" cy="2395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C17B57-8BFE-0474-6721-BE832B8B13D1}"/>
              </a:ext>
            </a:extLst>
          </p:cNvPr>
          <p:cNvSpPr/>
          <p:nvPr/>
        </p:nvSpPr>
        <p:spPr>
          <a:xfrm>
            <a:off x="3998378" y="1145894"/>
            <a:ext cx="870415" cy="1091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83AA6-09D0-347B-400F-5E0FAC4561C9}"/>
              </a:ext>
            </a:extLst>
          </p:cNvPr>
          <p:cNvSpPr txBox="1"/>
          <p:nvPr/>
        </p:nvSpPr>
        <p:spPr>
          <a:xfrm>
            <a:off x="75946" y="944317"/>
            <a:ext cx="11989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2.1 Create DataBricks resource in our resource group and then make connection between DataLake and DataBricks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BB6E8A-037A-E178-7EBC-85556BE76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34" y="1931953"/>
            <a:ext cx="5624203" cy="16420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849BEA-6D54-DE8D-67AC-5F956EC8CE0B}"/>
              </a:ext>
            </a:extLst>
          </p:cNvPr>
          <p:cNvSpPr txBox="1"/>
          <p:nvPr/>
        </p:nvSpPr>
        <p:spPr>
          <a:xfrm>
            <a:off x="2670747" y="1511754"/>
            <a:ext cx="18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Data Access Key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392D11-04FF-1021-DD92-9E382ECED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03" y="3627930"/>
            <a:ext cx="3462828" cy="30018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8BED5F9-93C1-0CF9-B6A4-0C57B2F1E5D8}"/>
              </a:ext>
            </a:extLst>
          </p:cNvPr>
          <p:cNvSpPr txBox="1"/>
          <p:nvPr/>
        </p:nvSpPr>
        <p:spPr>
          <a:xfrm>
            <a:off x="146837" y="3959961"/>
            <a:ext cx="2082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Microsoft Entra ID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0ACD3B-8065-8F35-F93F-2EE5A28AB97D}"/>
              </a:ext>
            </a:extLst>
          </p:cNvPr>
          <p:cNvGrpSpPr/>
          <p:nvPr/>
        </p:nvGrpSpPr>
        <p:grpSpPr>
          <a:xfrm>
            <a:off x="6070921" y="1691881"/>
            <a:ext cx="5982535" cy="2771733"/>
            <a:chOff x="5674311" y="3414796"/>
            <a:chExt cx="5982535" cy="277173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2CB2F23-0BDD-5F3A-33E6-36E2046A0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74311" y="3738262"/>
              <a:ext cx="5982535" cy="244826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9CB5A1-F6E9-1748-807B-EAD9F57C0252}"/>
                </a:ext>
              </a:extLst>
            </p:cNvPr>
            <p:cNvSpPr txBox="1"/>
            <p:nvPr/>
          </p:nvSpPr>
          <p:spPr>
            <a:xfrm>
              <a:off x="7625012" y="3414796"/>
              <a:ext cx="2576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Create app registration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C2D014-08CB-54B5-4285-738B225DF8F9}"/>
              </a:ext>
            </a:extLst>
          </p:cNvPr>
          <p:cNvGrpSpPr/>
          <p:nvPr/>
        </p:nvGrpSpPr>
        <p:grpSpPr>
          <a:xfrm>
            <a:off x="2676901" y="3414796"/>
            <a:ext cx="3319920" cy="2662560"/>
            <a:chOff x="2676901" y="3414796"/>
            <a:chExt cx="3319920" cy="266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6C8CF8-9AE0-B97B-FC2F-8309B1245692}"/>
                    </a:ext>
                  </a:extLst>
                </p14:cNvPr>
                <p14:cNvContentPartPr/>
                <p14:nvPr/>
              </p14:nvContentPartPr>
              <p14:xfrm>
                <a:off x="2758621" y="3414796"/>
                <a:ext cx="1582560" cy="1216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6C8CF8-9AE0-B97B-FC2F-8309B12456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52501" y="3408676"/>
                  <a:ext cx="1594800" cy="12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970078-AF22-78DB-818E-B7A1187BF1E5}"/>
                    </a:ext>
                  </a:extLst>
                </p14:cNvPr>
                <p14:cNvContentPartPr/>
                <p14:nvPr/>
              </p14:nvContentPartPr>
              <p14:xfrm>
                <a:off x="2676901" y="4307596"/>
                <a:ext cx="297000" cy="21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970078-AF22-78DB-818E-B7A1187BF1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70781" y="4301476"/>
                  <a:ext cx="309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E9B323-D465-5673-FBA7-EC24588D55DC}"/>
                    </a:ext>
                  </a:extLst>
                </p14:cNvPr>
                <p14:cNvContentPartPr/>
                <p14:nvPr/>
              </p14:nvContentPartPr>
              <p14:xfrm>
                <a:off x="3241021" y="4399756"/>
                <a:ext cx="2674080" cy="1677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9E9B323-D465-5673-FBA7-EC24588D55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34901" y="4393636"/>
                  <a:ext cx="2686320" cy="16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962C5A-09BA-71A7-6472-E73D63F9DDAA}"/>
                    </a:ext>
                  </a:extLst>
                </p14:cNvPr>
                <p14:cNvContentPartPr/>
                <p14:nvPr/>
              </p14:nvContentPartPr>
              <p14:xfrm>
                <a:off x="5705221" y="4294636"/>
                <a:ext cx="291600" cy="310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962C5A-09BA-71A7-6472-E73D63F9DD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9101" y="4288516"/>
                  <a:ext cx="303840" cy="322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CF2DF7F-643C-9F64-6500-0A075C462CFB}"/>
              </a:ext>
            </a:extLst>
          </p:cNvPr>
          <p:cNvSpPr txBox="1"/>
          <p:nvPr/>
        </p:nvSpPr>
        <p:spPr>
          <a:xfrm>
            <a:off x="7879748" y="4438237"/>
            <a:ext cx="31072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Create certificates &amp; secrets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5505D1-B661-8DC9-D063-F187B10CC2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79390" y="5238556"/>
            <a:ext cx="6365595" cy="127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3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6C1DB-67FD-C8DD-BAB5-29AA79D2D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F39E2A-F662-CB9C-0E3B-32044C43E03A}"/>
              </a:ext>
            </a:extLst>
          </p:cNvPr>
          <p:cNvSpPr txBox="1"/>
          <p:nvPr/>
        </p:nvSpPr>
        <p:spPr>
          <a:xfrm>
            <a:off x="3030843" y="582763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2</a:t>
            </a:r>
            <a:r>
              <a:rPr lang="vi-VN" sz="2500" b="1"/>
              <a:t>: </a:t>
            </a:r>
            <a:r>
              <a:rPr lang="en-US" sz="2500" b="1"/>
              <a:t>Data transformation with Data Bricks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A9A0A-CD8C-2BD2-7653-7A231090F487}"/>
              </a:ext>
            </a:extLst>
          </p:cNvPr>
          <p:cNvSpPr txBox="1"/>
          <p:nvPr/>
        </p:nvSpPr>
        <p:spPr>
          <a:xfrm>
            <a:off x="388462" y="1059817"/>
            <a:ext cx="4352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2.2 Data transformation with DataBricks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ACEFBE-7BED-2D4B-49D6-C83D8AE95171}"/>
              </a:ext>
            </a:extLst>
          </p:cNvPr>
          <p:cNvSpPr txBox="1"/>
          <p:nvPr/>
        </p:nvSpPr>
        <p:spPr>
          <a:xfrm>
            <a:off x="3125218" y="5113723"/>
            <a:ext cx="5941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Allow DataBricks to Access Data Lake (Storage Account)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A15C377-5DB8-1A19-CA3E-6BAB331BA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9270"/>
            <a:ext cx="12192000" cy="352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75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523A-6869-5EBC-4C87-5918CA5E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6611DD-158A-3ECE-5EAB-BA65A731B1AF}"/>
              </a:ext>
            </a:extLst>
          </p:cNvPr>
          <p:cNvSpPr txBox="1"/>
          <p:nvPr/>
        </p:nvSpPr>
        <p:spPr>
          <a:xfrm>
            <a:off x="3030843" y="582763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2</a:t>
            </a:r>
            <a:r>
              <a:rPr lang="vi-VN" sz="2500" b="1"/>
              <a:t>: </a:t>
            </a:r>
            <a:r>
              <a:rPr lang="en-US" sz="2500" b="1"/>
              <a:t>Data transformation with Data Bricks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97EFE2-7169-1266-33DC-77D7FD68DEDD}"/>
              </a:ext>
            </a:extLst>
          </p:cNvPr>
          <p:cNvSpPr txBox="1"/>
          <p:nvPr/>
        </p:nvSpPr>
        <p:spPr>
          <a:xfrm>
            <a:off x="388462" y="1059817"/>
            <a:ext cx="8202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 Read data from bronze, perform transformation and load into silver layer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CC4AC-8803-9EA8-5FCC-275826DF0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7" y="1936981"/>
            <a:ext cx="8445097" cy="2295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03E904-A148-724E-84F2-51D250ECF785}"/>
              </a:ext>
            </a:extLst>
          </p:cNvPr>
          <p:cNvSpPr txBox="1"/>
          <p:nvPr/>
        </p:nvSpPr>
        <p:spPr>
          <a:xfrm>
            <a:off x="145547" y="4457955"/>
            <a:ext cx="10092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Split date column into (day, month, year)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df_calender </a:t>
            </a:r>
            <a:r>
              <a:rPr lang="en-US" b="0">
                <a:solidFill>
                  <a:srgbClr val="68768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df_calender.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)))\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'Year'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df_calender.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A34826-D087-8152-D68A-46B2CBD95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528" y="3870072"/>
            <a:ext cx="3162741" cy="27150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EA6045-DF08-54D4-91A2-628853AB8C8D}"/>
              </a:ext>
            </a:extLst>
          </p:cNvPr>
          <p:cNvSpPr txBox="1"/>
          <p:nvPr/>
        </p:nvSpPr>
        <p:spPr>
          <a:xfrm>
            <a:off x="388462" y="1424307"/>
            <a:ext cx="398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2.3.1 Transformation on df_calender</a:t>
            </a:r>
          </a:p>
        </p:txBody>
      </p:sp>
    </p:spTree>
    <p:extLst>
      <p:ext uri="{BB962C8B-B14F-4D97-AF65-F5344CB8AC3E}">
        <p14:creationId xmlns:p14="http://schemas.microsoft.com/office/powerpoint/2010/main" val="4250910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A065-71E9-5B21-5AFC-8DB50FF4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0AF13B-6A92-152E-ED4A-4F116EDABB15}"/>
              </a:ext>
            </a:extLst>
          </p:cNvPr>
          <p:cNvSpPr txBox="1"/>
          <p:nvPr/>
        </p:nvSpPr>
        <p:spPr>
          <a:xfrm>
            <a:off x="3030843" y="582763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2</a:t>
            </a:r>
            <a:r>
              <a:rPr lang="vi-VN" sz="2500" b="1"/>
              <a:t>: </a:t>
            </a:r>
            <a:r>
              <a:rPr lang="en-US" sz="2500" b="1"/>
              <a:t>Data transformation with Data Bricks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C55F9-90CD-F5AA-7474-D12A2B546635}"/>
              </a:ext>
            </a:extLst>
          </p:cNvPr>
          <p:cNvSpPr txBox="1"/>
          <p:nvPr/>
        </p:nvSpPr>
        <p:spPr>
          <a:xfrm>
            <a:off x="388462" y="1059817"/>
            <a:ext cx="8202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 Read data from bronze, perform transformation and load into silver layer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9DECDA-B981-1C57-C7AD-70B5F4D5C8F4}"/>
              </a:ext>
            </a:extLst>
          </p:cNvPr>
          <p:cNvSpPr txBox="1"/>
          <p:nvPr/>
        </p:nvSpPr>
        <p:spPr>
          <a:xfrm>
            <a:off x="388462" y="1424307"/>
            <a:ext cx="4059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2.3.2 Transformation on df_customer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EB3B2-9A38-37B7-6563-8D8D0D911702}"/>
              </a:ext>
            </a:extLst>
          </p:cNvPr>
          <p:cNvSpPr txBox="1"/>
          <p:nvPr/>
        </p:nvSpPr>
        <p:spPr>
          <a:xfrm>
            <a:off x="388462" y="2188907"/>
            <a:ext cx="108929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Merge Prefix + LastName + FirstName -&gt; FullName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Capitalize first letter of each word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df_customer </a:t>
            </a:r>
            <a:r>
              <a:rPr lang="en-US" b="0">
                <a:solidFill>
                  <a:srgbClr val="68768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df_customer.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'FirstName'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initcap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'FirstName'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)))\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'LastName'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initcap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'LastName'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)))\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'FullName'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'Prefix'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'FirstName'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'LastName'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df_customer.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57A0B7-9499-0476-3ADA-9B917A30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107" y="3600218"/>
            <a:ext cx="1991003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0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CAE90-8E6E-B37C-55AF-03D30E47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1BC05B-5DC9-B205-CFCE-698A49FC4035}"/>
              </a:ext>
            </a:extLst>
          </p:cNvPr>
          <p:cNvSpPr txBox="1"/>
          <p:nvPr/>
        </p:nvSpPr>
        <p:spPr>
          <a:xfrm>
            <a:off x="3030843" y="582763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2</a:t>
            </a:r>
            <a:r>
              <a:rPr lang="vi-VN" sz="2500" b="1"/>
              <a:t>: </a:t>
            </a:r>
            <a:r>
              <a:rPr lang="en-US" sz="2500" b="1"/>
              <a:t>Data transformation with Data Bricks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BC400F-633E-C2EE-FA04-D78764012D04}"/>
              </a:ext>
            </a:extLst>
          </p:cNvPr>
          <p:cNvSpPr txBox="1"/>
          <p:nvPr/>
        </p:nvSpPr>
        <p:spPr>
          <a:xfrm>
            <a:off x="388462" y="1059817"/>
            <a:ext cx="8202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 Read data from bronze, perform transformation and load into silver layer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91E277-31F2-E2CF-9806-96FDD22310F3}"/>
              </a:ext>
            </a:extLst>
          </p:cNvPr>
          <p:cNvSpPr txBox="1"/>
          <p:nvPr/>
        </p:nvSpPr>
        <p:spPr>
          <a:xfrm>
            <a:off x="388462" y="1424307"/>
            <a:ext cx="358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2.3.3 Transformation on df_sales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FD319-C241-0155-A94F-5FBDE53F12AC}"/>
              </a:ext>
            </a:extLst>
          </p:cNvPr>
          <p:cNvSpPr txBox="1"/>
          <p:nvPr/>
        </p:nvSpPr>
        <p:spPr>
          <a:xfrm>
            <a:off x="226695" y="1936981"/>
            <a:ext cx="117386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Convert StockDate to timestamp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df_sales </a:t>
            </a:r>
            <a:r>
              <a:rPr lang="en-US" b="0">
                <a:solidFill>
                  <a:srgbClr val="68768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df_sales.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'StockDate'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to_timestamp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'StockDate'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Replace all occurrences of character 'S' with 'T' in OrderNumber column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df_sales </a:t>
            </a:r>
            <a:r>
              <a:rPr lang="en-US" b="0">
                <a:solidFill>
                  <a:srgbClr val="68768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df_sales.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'OrderNumber'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regexp_replace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"OrderNumber"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Create new column 'multiply' by multiplying OrderLineItem with OrderQuantity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df_sales </a:t>
            </a:r>
            <a:r>
              <a:rPr lang="en-US" b="0">
                <a:solidFill>
                  <a:srgbClr val="68768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df_sales.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'multiply'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'OrderLineItem'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68768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'OrderQuantity'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900605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402DA-03F9-4FAB-8D1A-7EE0EE04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B0E192-4E0C-725B-41DB-61A8143AA80B}"/>
              </a:ext>
            </a:extLst>
          </p:cNvPr>
          <p:cNvSpPr txBox="1"/>
          <p:nvPr/>
        </p:nvSpPr>
        <p:spPr>
          <a:xfrm>
            <a:off x="3030843" y="582763"/>
            <a:ext cx="65049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2</a:t>
            </a:r>
            <a:r>
              <a:rPr lang="vi-VN" sz="2500" b="1"/>
              <a:t>: </a:t>
            </a:r>
            <a:r>
              <a:rPr lang="en-US" sz="2500" b="1"/>
              <a:t>Data transformation with Data Bricks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74AE5A-5EC4-145C-0A52-B55EA14390A4}"/>
              </a:ext>
            </a:extLst>
          </p:cNvPr>
          <p:cNvSpPr txBox="1"/>
          <p:nvPr/>
        </p:nvSpPr>
        <p:spPr>
          <a:xfrm>
            <a:off x="388462" y="1059817"/>
            <a:ext cx="8202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 Read data from bronze, perform transformation and load into silver layer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A68C4-4B8A-3CD0-AD73-1CBC50EBC224}"/>
              </a:ext>
            </a:extLst>
          </p:cNvPr>
          <p:cNvSpPr txBox="1"/>
          <p:nvPr/>
        </p:nvSpPr>
        <p:spPr>
          <a:xfrm>
            <a:off x="388462" y="1424307"/>
            <a:ext cx="4340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2.3.4 Load all dataframe into silver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859D6-D270-E2C8-D7E3-A45284D948E0}"/>
              </a:ext>
            </a:extLst>
          </p:cNvPr>
          <p:cNvSpPr txBox="1"/>
          <p:nvPr/>
        </p:nvSpPr>
        <p:spPr>
          <a:xfrm>
            <a:off x="388462" y="1888044"/>
            <a:ext cx="127446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Push data to silver layer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df_sales.write.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'parquet'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)\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'append'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)\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'path'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C72E0F"/>
                </a:solidFill>
                <a:effectLst/>
                <a:latin typeface="Consolas" panose="020B0609020204030204" pitchFamily="49" charset="0"/>
              </a:rPr>
              <a:t>'abfss://silver@awstoragedatalake2026.dfs.core.windows.net/Sales'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)\</a:t>
            </a:r>
          </a:p>
          <a:p>
            <a:pPr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E7A30-34DE-2E11-FF44-FB7C6DE0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23" y="3365372"/>
            <a:ext cx="5481277" cy="33688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93DCC3-FE62-F6CD-7A51-91CEC02977CA}"/>
              </a:ext>
            </a:extLst>
          </p:cNvPr>
          <p:cNvSpPr txBox="1"/>
          <p:nvPr/>
        </p:nvSpPr>
        <p:spPr>
          <a:xfrm>
            <a:off x="6486513" y="4842700"/>
            <a:ext cx="4566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/>
              <a:t>Phase 2 Done when we all have data in silver layer</a:t>
            </a:r>
          </a:p>
        </p:txBody>
      </p:sp>
      <p:pic>
        <p:nvPicPr>
          <p:cNvPr id="10" name="Picture 2" descr="Check Icon PNG pour téléchargement gratuit">
            <a:extLst>
              <a:ext uri="{FF2B5EF4-FFF2-40B4-BE49-F238E27FC236}">
                <a16:creationId xmlns:a16="http://schemas.microsoft.com/office/drawing/2014/main" id="{7E4DC6FB-7165-E25F-442D-7E9C29E9D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765" y="509483"/>
            <a:ext cx="584457" cy="5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E639E4D-A6D5-C085-86A9-E4F548BE18E2}"/>
                  </a:ext>
                </a:extLst>
              </p14:cNvPr>
              <p14:cNvContentPartPr/>
              <p14:nvPr/>
            </p14:nvContentPartPr>
            <p14:xfrm>
              <a:off x="9543960" y="84555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E639E4D-A6D5-C085-86A9-E4F548BE18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7840" y="83943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212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627F0-423F-FB08-AA4A-571BA255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49ED15-E381-5AC4-1AB9-0BF61DA0F10B}"/>
              </a:ext>
            </a:extLst>
          </p:cNvPr>
          <p:cNvSpPr txBox="1"/>
          <p:nvPr/>
        </p:nvSpPr>
        <p:spPr>
          <a:xfrm>
            <a:off x="3030843" y="582763"/>
            <a:ext cx="56219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3</a:t>
            </a:r>
            <a:r>
              <a:rPr lang="vi-VN" sz="2500" b="1"/>
              <a:t>: </a:t>
            </a:r>
            <a:r>
              <a:rPr lang="en-US" sz="2500" b="1"/>
              <a:t>Data Warehouse with Synapse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1D0563-2DE9-8242-51F0-F902068DA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876" y="1615328"/>
            <a:ext cx="7686357" cy="45340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816E22-D7D6-D494-AB4C-70723BF5AF64}"/>
              </a:ext>
            </a:extLst>
          </p:cNvPr>
          <p:cNvSpPr/>
          <p:nvPr/>
        </p:nvSpPr>
        <p:spPr>
          <a:xfrm>
            <a:off x="7440930" y="1314450"/>
            <a:ext cx="1645920" cy="2360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3D7FC2-1E01-1CEE-8A10-3AA4AC40DC89}"/>
              </a:ext>
            </a:extLst>
          </p:cNvPr>
          <p:cNvSpPr/>
          <p:nvPr/>
        </p:nvSpPr>
        <p:spPr>
          <a:xfrm>
            <a:off x="8912844" y="1094001"/>
            <a:ext cx="976646" cy="140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53F9F1-40EE-985C-465F-4C187B93E430}"/>
              </a:ext>
            </a:extLst>
          </p:cNvPr>
          <p:cNvSpPr/>
          <p:nvPr/>
        </p:nvSpPr>
        <p:spPr>
          <a:xfrm>
            <a:off x="2207243" y="4050561"/>
            <a:ext cx="1014111" cy="140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79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F0855-7BD0-D8D4-8667-A71EC214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EE6299-2285-D15F-C9C2-26F745BC7745}"/>
              </a:ext>
            </a:extLst>
          </p:cNvPr>
          <p:cNvSpPr txBox="1"/>
          <p:nvPr/>
        </p:nvSpPr>
        <p:spPr>
          <a:xfrm>
            <a:off x="3030843" y="582763"/>
            <a:ext cx="56219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3</a:t>
            </a:r>
            <a:r>
              <a:rPr lang="vi-VN" sz="2500" b="1"/>
              <a:t>: </a:t>
            </a:r>
            <a:r>
              <a:rPr lang="en-US" sz="2500" b="1"/>
              <a:t>Data Warehouse with Synapse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95DC4F-4730-837F-567C-B18F76B91577}"/>
              </a:ext>
            </a:extLst>
          </p:cNvPr>
          <p:cNvSpPr/>
          <p:nvPr/>
        </p:nvSpPr>
        <p:spPr>
          <a:xfrm>
            <a:off x="7440930" y="1314450"/>
            <a:ext cx="1645920" cy="2360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1CB273-3406-D9D4-B6DC-3FCF5DFE831B}"/>
              </a:ext>
            </a:extLst>
          </p:cNvPr>
          <p:cNvSpPr/>
          <p:nvPr/>
        </p:nvSpPr>
        <p:spPr>
          <a:xfrm>
            <a:off x="2207243" y="4050561"/>
            <a:ext cx="1014111" cy="140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E6E83F-404D-7BDA-63F3-383ACB40698A}"/>
              </a:ext>
            </a:extLst>
          </p:cNvPr>
          <p:cNvSpPr txBox="1"/>
          <p:nvPr/>
        </p:nvSpPr>
        <p:spPr>
          <a:xfrm>
            <a:off x="434182" y="1206470"/>
            <a:ext cx="3434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3.1 Create External data source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8B0CE3-57ED-9C15-2BE5-B9525B1B3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24" y="1674683"/>
            <a:ext cx="8362240" cy="519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22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18575-82F6-F9D8-0CA2-A9754A93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3CB76F-5178-691A-1D85-83537B2EF6DF}"/>
              </a:ext>
            </a:extLst>
          </p:cNvPr>
          <p:cNvSpPr txBox="1"/>
          <p:nvPr/>
        </p:nvSpPr>
        <p:spPr>
          <a:xfrm>
            <a:off x="3030843" y="582763"/>
            <a:ext cx="56219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3</a:t>
            </a:r>
            <a:r>
              <a:rPr lang="vi-VN" sz="2500" b="1"/>
              <a:t>: </a:t>
            </a:r>
            <a:r>
              <a:rPr lang="en-US" sz="2500" b="1"/>
              <a:t>Data Warehouse with Synapse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8269A0-0414-B9D8-F4BB-4ECD0CC00B8A}"/>
              </a:ext>
            </a:extLst>
          </p:cNvPr>
          <p:cNvSpPr/>
          <p:nvPr/>
        </p:nvSpPr>
        <p:spPr>
          <a:xfrm>
            <a:off x="7440930" y="1314450"/>
            <a:ext cx="1645920" cy="2360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9C237-40A5-A599-BCD3-4CDFF4967B01}"/>
              </a:ext>
            </a:extLst>
          </p:cNvPr>
          <p:cNvSpPr/>
          <p:nvPr/>
        </p:nvSpPr>
        <p:spPr>
          <a:xfrm>
            <a:off x="2207243" y="4050561"/>
            <a:ext cx="1014111" cy="140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9024A-5BEC-8642-22DE-B19638F0AA53}"/>
              </a:ext>
            </a:extLst>
          </p:cNvPr>
          <p:cNvSpPr txBox="1"/>
          <p:nvPr/>
        </p:nvSpPr>
        <p:spPr>
          <a:xfrm>
            <a:off x="434182" y="1206470"/>
            <a:ext cx="3753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3.2 Create View on table for query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76D8F-7A9B-5480-B824-B931C306D5C9}"/>
              </a:ext>
            </a:extLst>
          </p:cNvPr>
          <p:cNvSpPr txBox="1"/>
          <p:nvPr/>
        </p:nvSpPr>
        <p:spPr>
          <a:xfrm>
            <a:off x="648182" y="1606580"/>
            <a:ext cx="1415583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Create calander view 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gold.calander</a:t>
            </a:r>
          </a:p>
          <a:p>
            <a:pPr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63B00"/>
                </a:solidFill>
                <a:effectLst/>
                <a:latin typeface="Consolas" panose="020B0609020204030204" pitchFamily="49" charset="0"/>
              </a:rPr>
              <a:t>OPENROWSET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BULK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'https://awstoragedatalake2026.blob.core.windows.net/silver/Calender/'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'PARQUET'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query1</a:t>
            </a:r>
          </a:p>
          <a:p>
            <a:pPr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Create customer view 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gold.customer</a:t>
            </a:r>
          </a:p>
          <a:p>
            <a:pPr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63B00"/>
                </a:solidFill>
                <a:effectLst/>
                <a:latin typeface="Consolas" panose="020B0609020204030204" pitchFamily="49" charset="0"/>
              </a:rPr>
              <a:t>OPENROWSET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BULK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'https://awstoragedatalake2026.blob.core.windows.net/silver/Customers/'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'PARQUET'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query1</a:t>
            </a:r>
          </a:p>
        </p:txBody>
      </p:sp>
    </p:spTree>
    <p:extLst>
      <p:ext uri="{BB962C8B-B14F-4D97-AF65-F5344CB8AC3E}">
        <p14:creationId xmlns:p14="http://schemas.microsoft.com/office/powerpoint/2010/main" val="2777022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6CD5-780D-3255-5AA4-50D4BE38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FEFD11-DBDE-8BA1-82A1-B04816014F72}"/>
              </a:ext>
            </a:extLst>
          </p:cNvPr>
          <p:cNvSpPr txBox="1"/>
          <p:nvPr/>
        </p:nvSpPr>
        <p:spPr>
          <a:xfrm>
            <a:off x="3030843" y="582763"/>
            <a:ext cx="56219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3</a:t>
            </a:r>
            <a:r>
              <a:rPr lang="vi-VN" sz="2500" b="1"/>
              <a:t>: </a:t>
            </a:r>
            <a:r>
              <a:rPr lang="en-US" sz="2500" b="1"/>
              <a:t>Data Warehouse with Synapse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38F64-D9DE-0BDD-9824-D05ED2F8246C}"/>
              </a:ext>
            </a:extLst>
          </p:cNvPr>
          <p:cNvSpPr/>
          <p:nvPr/>
        </p:nvSpPr>
        <p:spPr>
          <a:xfrm>
            <a:off x="2207243" y="4050561"/>
            <a:ext cx="1014111" cy="140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9948F1-4DE1-84FF-0C52-628065643867}"/>
              </a:ext>
            </a:extLst>
          </p:cNvPr>
          <p:cNvSpPr txBox="1"/>
          <p:nvPr/>
        </p:nvSpPr>
        <p:spPr>
          <a:xfrm>
            <a:off x="434182" y="1206470"/>
            <a:ext cx="3877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3.3 Data Model </a:t>
            </a:r>
            <a:r>
              <a:rPr lang="en-US" sz="2000">
                <a:sym typeface="Wingdings" panose="05000000000000000000" pitchFamily="2" charset="2"/>
              </a:rPr>
              <a:t> Star Schema 	</a:t>
            </a:r>
            <a:endParaRPr lang="en-US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2C23B9-283D-97EA-879E-F355E239F93E}"/>
              </a:ext>
            </a:extLst>
          </p:cNvPr>
          <p:cNvSpPr/>
          <p:nvPr/>
        </p:nvSpPr>
        <p:spPr>
          <a:xfrm>
            <a:off x="4516705" y="3429000"/>
            <a:ext cx="1138753" cy="1678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FactSales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E256B-02CE-AC6C-BF55-2EF1C7F32263}"/>
              </a:ext>
            </a:extLst>
          </p:cNvPr>
          <p:cNvSpPr/>
          <p:nvPr/>
        </p:nvSpPr>
        <p:spPr>
          <a:xfrm>
            <a:off x="7177843" y="3429000"/>
            <a:ext cx="1138753" cy="1678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Fact Returns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7DFA9A-076E-0988-8F52-B8F95540FDC6}"/>
              </a:ext>
            </a:extLst>
          </p:cNvPr>
          <p:cNvSpPr/>
          <p:nvPr/>
        </p:nvSpPr>
        <p:spPr>
          <a:xfrm>
            <a:off x="1803797" y="1750671"/>
            <a:ext cx="1138753" cy="1678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DimCalender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BDB99-906A-F6A2-1A19-011EC3D1A3B1}"/>
              </a:ext>
            </a:extLst>
          </p:cNvPr>
          <p:cNvSpPr/>
          <p:nvPr/>
        </p:nvSpPr>
        <p:spPr>
          <a:xfrm>
            <a:off x="1803797" y="5033816"/>
            <a:ext cx="1138753" cy="1678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DimCustomer	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F6DE61-F39C-3E0B-E507-B98575FCFFC5}"/>
              </a:ext>
            </a:extLst>
          </p:cNvPr>
          <p:cNvSpPr/>
          <p:nvPr/>
        </p:nvSpPr>
        <p:spPr>
          <a:xfrm>
            <a:off x="9507120" y="4612310"/>
            <a:ext cx="1138753" cy="1678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Dim Product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C84515-FF1D-AE79-9AE9-EEFAF8839A47}"/>
              </a:ext>
            </a:extLst>
          </p:cNvPr>
          <p:cNvSpPr/>
          <p:nvPr/>
        </p:nvSpPr>
        <p:spPr>
          <a:xfrm>
            <a:off x="9818826" y="1606580"/>
            <a:ext cx="1138753" cy="1678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Dim Territories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9A429A4-98CB-931B-32C3-9C6CD85EACB3}"/>
              </a:ext>
            </a:extLst>
          </p:cNvPr>
          <p:cNvGrpSpPr/>
          <p:nvPr/>
        </p:nvGrpSpPr>
        <p:grpSpPr>
          <a:xfrm>
            <a:off x="2937600" y="1895670"/>
            <a:ext cx="6892200" cy="2073960"/>
            <a:chOff x="2937600" y="1895670"/>
            <a:chExt cx="6892200" cy="20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9EF36D3-1012-5DFF-88DE-264528A5B0DA}"/>
                    </a:ext>
                  </a:extLst>
                </p14:cNvPr>
                <p14:cNvContentPartPr/>
                <p14:nvPr/>
              </p14:nvContentPartPr>
              <p14:xfrm>
                <a:off x="8432640" y="2628630"/>
                <a:ext cx="1397160" cy="979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9EF36D3-1012-5DFF-88DE-264528A5B0D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26520" y="2622510"/>
                  <a:ext cx="1409400" cy="9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50CE35-206F-B006-D2C6-627CFA0551AE}"/>
                    </a:ext>
                  </a:extLst>
                </p14:cNvPr>
                <p14:cNvContentPartPr/>
                <p14:nvPr/>
              </p14:nvContentPartPr>
              <p14:xfrm>
                <a:off x="8354880" y="3371670"/>
                <a:ext cx="397080" cy="493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50CE35-206F-B006-D2C6-627CFA0551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48760" y="3365550"/>
                  <a:ext cx="4093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E34072-BBA5-D608-AFEC-6D50E0FB796A}"/>
                    </a:ext>
                  </a:extLst>
                </p14:cNvPr>
                <p14:cNvContentPartPr/>
                <p14:nvPr/>
              </p14:nvContentPartPr>
              <p14:xfrm>
                <a:off x="2937600" y="2823030"/>
                <a:ext cx="1603800" cy="108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E34072-BBA5-D608-AFEC-6D50E0FB79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31480" y="2816910"/>
                  <a:ext cx="1616040" cy="10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1CAB5-3BC8-21D3-D1B3-37B344327147}"/>
                    </a:ext>
                  </a:extLst>
                </p14:cNvPr>
                <p14:cNvContentPartPr/>
                <p14:nvPr/>
              </p14:nvContentPartPr>
              <p14:xfrm>
                <a:off x="4310280" y="3668670"/>
                <a:ext cx="205920" cy="300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1CAB5-3BC8-21D3-D1B3-37B34432714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04160" y="3662550"/>
                  <a:ext cx="2181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72310C-4E50-0397-C257-9233963D5849}"/>
                    </a:ext>
                  </a:extLst>
                </p14:cNvPr>
                <p14:cNvContentPartPr/>
                <p14:nvPr/>
              </p14:nvContentPartPr>
              <p14:xfrm>
                <a:off x="2994840" y="2250990"/>
                <a:ext cx="4276440" cy="1070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72310C-4E50-0397-C257-9233963D58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88720" y="2244870"/>
                  <a:ext cx="4288680" cy="10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D0EA3C-601D-A365-4B22-9628B55E77E6}"/>
                    </a:ext>
                  </a:extLst>
                </p14:cNvPr>
                <p14:cNvContentPartPr/>
                <p14:nvPr/>
              </p14:nvContentPartPr>
              <p14:xfrm>
                <a:off x="7120800" y="3121470"/>
                <a:ext cx="412560" cy="46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D0EA3C-601D-A365-4B22-9628B55E77E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14680" y="3115350"/>
                  <a:ext cx="42480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BC9926E-EDBA-3E38-11BA-4E4B76383373}"/>
                    </a:ext>
                  </a:extLst>
                </p14:cNvPr>
                <p14:cNvContentPartPr/>
                <p14:nvPr/>
              </p14:nvContentPartPr>
              <p14:xfrm>
                <a:off x="5579280" y="1895670"/>
                <a:ext cx="4250520" cy="1568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BC9926E-EDBA-3E38-11BA-4E4B7638337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73160" y="1889550"/>
                  <a:ext cx="4262760" cy="15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F227C5E-074E-9246-9091-AF24EE624ECA}"/>
                    </a:ext>
                  </a:extLst>
                </p14:cNvPr>
                <p14:cNvContentPartPr/>
                <p14:nvPr/>
              </p14:nvContentPartPr>
              <p14:xfrm>
                <a:off x="5474880" y="3199950"/>
                <a:ext cx="732600" cy="275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F227C5E-074E-9246-9091-AF24EE624EC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68760" y="3193830"/>
                  <a:ext cx="74484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42401B-CD6D-82DF-CD7F-4DAD993C58C5}"/>
              </a:ext>
            </a:extLst>
          </p:cNvPr>
          <p:cNvGrpSpPr/>
          <p:nvPr/>
        </p:nvGrpSpPr>
        <p:grpSpPr>
          <a:xfrm>
            <a:off x="2994840" y="4957110"/>
            <a:ext cx="7077960" cy="1433520"/>
            <a:chOff x="2994840" y="4957110"/>
            <a:chExt cx="7077960" cy="143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17F79E0-C96D-0322-9B69-723247DFFE7E}"/>
                    </a:ext>
                  </a:extLst>
                </p14:cNvPr>
                <p14:cNvContentPartPr/>
                <p14:nvPr/>
              </p14:nvContentPartPr>
              <p14:xfrm>
                <a:off x="2994840" y="4978710"/>
                <a:ext cx="1846440" cy="118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17F79E0-C96D-0322-9B69-723247DFFE7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88720" y="4972590"/>
                  <a:ext cx="1858680" cy="11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4FFBD3-7934-B012-E739-CFAE8E746982}"/>
                    </a:ext>
                  </a:extLst>
                </p14:cNvPr>
                <p14:cNvContentPartPr/>
                <p14:nvPr/>
              </p14:nvContentPartPr>
              <p14:xfrm>
                <a:off x="4491720" y="5010750"/>
                <a:ext cx="277200" cy="451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4FFBD3-7934-B012-E739-CFAE8E74698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85600" y="5004630"/>
                  <a:ext cx="2894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945095-C8D3-48BC-077A-61F757D9F5BB}"/>
                    </a:ext>
                  </a:extLst>
                </p14:cNvPr>
                <p14:cNvContentPartPr/>
                <p14:nvPr/>
              </p14:nvContentPartPr>
              <p14:xfrm>
                <a:off x="8173440" y="4959990"/>
                <a:ext cx="1416600" cy="652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945095-C8D3-48BC-077A-61F757D9F5B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67320" y="4953870"/>
                  <a:ext cx="142884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390A05-42CF-B8C4-6A19-8531075794D1}"/>
                    </a:ext>
                  </a:extLst>
                </p14:cNvPr>
                <p14:cNvContentPartPr/>
                <p14:nvPr/>
              </p14:nvContentPartPr>
              <p14:xfrm>
                <a:off x="8234280" y="4993470"/>
                <a:ext cx="451440" cy="390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390A05-42CF-B8C4-6A19-8531075794D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28160" y="4987350"/>
                  <a:ext cx="463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373A4CD-8A68-65B2-70FB-9C4923A61767}"/>
                    </a:ext>
                  </a:extLst>
                </p14:cNvPr>
                <p14:cNvContentPartPr/>
                <p14:nvPr/>
              </p14:nvContentPartPr>
              <p14:xfrm>
                <a:off x="5532120" y="5120190"/>
                <a:ext cx="4540680" cy="1270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373A4CD-8A68-65B2-70FB-9C4923A6176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26000" y="5114070"/>
                  <a:ext cx="4552920" cy="12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ED1473-A9A9-503F-8C53-981D08555DB0}"/>
                    </a:ext>
                  </a:extLst>
                </p14:cNvPr>
                <p14:cNvContentPartPr/>
                <p14:nvPr/>
              </p14:nvContentPartPr>
              <p14:xfrm>
                <a:off x="5360400" y="4957110"/>
                <a:ext cx="620640" cy="483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ED1473-A9A9-503F-8C53-981D08555D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54280" y="4950990"/>
                  <a:ext cx="632880" cy="496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5" name="Picture 2" descr="Check Icon PNG pour téléchargement gratuit">
            <a:extLst>
              <a:ext uri="{FF2B5EF4-FFF2-40B4-BE49-F238E27FC236}">
                <a16:creationId xmlns:a16="http://schemas.microsoft.com/office/drawing/2014/main" id="{9FC1A71E-69C0-3299-2A58-D8728E7D4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9511" y="483033"/>
            <a:ext cx="584457" cy="5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377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A862B-E038-AF8E-F8DD-31CF8B5DC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3E0373-23F6-1B63-5D74-E604A84AFC64}"/>
              </a:ext>
            </a:extLst>
          </p:cNvPr>
          <p:cNvSpPr txBox="1"/>
          <p:nvPr/>
        </p:nvSpPr>
        <p:spPr>
          <a:xfrm>
            <a:off x="3030843" y="582763"/>
            <a:ext cx="54425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4</a:t>
            </a:r>
            <a:r>
              <a:rPr lang="vi-VN" sz="2500" b="1"/>
              <a:t>: </a:t>
            </a:r>
            <a:r>
              <a:rPr lang="en-US" sz="2500" b="1"/>
              <a:t>Connect Synapse to Power BI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6C353D9-A563-0216-A8A6-4838F9CA1E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7"/>
          <a:stretch>
            <a:fillRect/>
          </a:stretch>
        </p:blipFill>
        <p:spPr>
          <a:xfrm>
            <a:off x="5246370" y="1288417"/>
            <a:ext cx="2093826" cy="5162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E40073-719E-A46A-0188-65B1BFDAC37B}"/>
              </a:ext>
            </a:extLst>
          </p:cNvPr>
          <p:cNvSpPr/>
          <p:nvPr/>
        </p:nvSpPr>
        <p:spPr>
          <a:xfrm>
            <a:off x="4457700" y="4869180"/>
            <a:ext cx="1143000" cy="982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6BB66C-4DF3-AECB-A301-67BFA8B3F140}"/>
                  </a:ext>
                </a:extLst>
              </p14:cNvPr>
              <p14:cNvContentPartPr/>
              <p14:nvPr/>
            </p14:nvContentPartPr>
            <p14:xfrm>
              <a:off x="9075240" y="94887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6BB66C-4DF3-AECB-A301-67BFA8B3F1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69120" y="94275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300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65F8-C63F-253C-8CB6-5BE7B0AC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BEAC06-0BF2-6D91-C2AD-CD1E1EDC2CA4}"/>
              </a:ext>
            </a:extLst>
          </p:cNvPr>
          <p:cNvSpPr txBox="1"/>
          <p:nvPr/>
        </p:nvSpPr>
        <p:spPr>
          <a:xfrm>
            <a:off x="3030843" y="582763"/>
            <a:ext cx="54425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500" b="1"/>
              <a:t>Phase </a:t>
            </a:r>
            <a:r>
              <a:rPr lang="en-US" sz="2500" b="1"/>
              <a:t>4</a:t>
            </a:r>
            <a:r>
              <a:rPr lang="vi-VN" sz="2500" b="1"/>
              <a:t>: </a:t>
            </a:r>
            <a:r>
              <a:rPr lang="en-US" sz="2500" b="1"/>
              <a:t>Connect Synapse to 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1C50EB-A9FE-872D-4D14-30BC9E31F525}"/>
              </a:ext>
            </a:extLst>
          </p:cNvPr>
          <p:cNvSpPr/>
          <p:nvPr/>
        </p:nvSpPr>
        <p:spPr>
          <a:xfrm>
            <a:off x="4457700" y="4869180"/>
            <a:ext cx="1143000" cy="982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Check Icon PNG pour téléchargement gratuit">
            <a:extLst>
              <a:ext uri="{FF2B5EF4-FFF2-40B4-BE49-F238E27FC236}">
                <a16:creationId xmlns:a16="http://schemas.microsoft.com/office/drawing/2014/main" id="{C0B28255-BBE3-59EE-B603-C85FE9877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9511" y="483033"/>
            <a:ext cx="584457" cy="5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D8F5C2-F577-D99E-2C98-4680E30FBD50}"/>
              </a:ext>
            </a:extLst>
          </p:cNvPr>
          <p:cNvSpPr txBox="1"/>
          <p:nvPr/>
        </p:nvSpPr>
        <p:spPr>
          <a:xfrm>
            <a:off x="653420" y="1215223"/>
            <a:ext cx="68797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/>
              <a:t>Get Data -</a:t>
            </a:r>
            <a:r>
              <a:rPr lang="vi-VN" sz="2500"/>
              <a:t>&gt;</a:t>
            </a:r>
            <a:r>
              <a:rPr lang="en-US" sz="2500"/>
              <a:t> Azure  -&gt; Azure Synapse Analytics SQL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43010-17BC-D567-C990-24EC45F9F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14" y="1847683"/>
            <a:ext cx="11577772" cy="43138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9BAC9BF-E2A0-1DB8-AC4D-40BF9DAC5863}"/>
                  </a:ext>
                </a:extLst>
              </p14:cNvPr>
              <p14:cNvContentPartPr/>
              <p14:nvPr/>
            </p14:nvContentPartPr>
            <p14:xfrm>
              <a:off x="1130400" y="1851390"/>
              <a:ext cx="1089360" cy="1442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9BAC9BF-E2A0-1DB8-AC4D-40BF9DAC58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4280" y="1845270"/>
                <a:ext cx="1101600" cy="14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163718C-6EDE-7DA4-B1FD-EEB1AC8BC090}"/>
                  </a:ext>
                </a:extLst>
              </p14:cNvPr>
              <p14:cNvContentPartPr/>
              <p14:nvPr/>
            </p14:nvContentPartPr>
            <p14:xfrm>
              <a:off x="4377600" y="5118750"/>
              <a:ext cx="961200" cy="56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163718C-6EDE-7DA4-B1FD-EEB1AC8BC0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71480" y="5112630"/>
                <a:ext cx="973440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60C9C8-3C1C-D68F-F825-D9FAD5125D64}"/>
                  </a:ext>
                </a:extLst>
              </p14:cNvPr>
              <p14:cNvContentPartPr/>
              <p14:nvPr/>
            </p14:nvContentPartPr>
            <p14:xfrm>
              <a:off x="6811920" y="4018590"/>
              <a:ext cx="2017800" cy="50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60C9C8-3C1C-D68F-F825-D9FAD5125D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05800" y="4012470"/>
                <a:ext cx="2030040" cy="6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3047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5C984-5B96-3F41-8E67-5FDAE42B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EC1AD3-D9A4-DD7C-BE18-B78704AEB807}"/>
              </a:ext>
            </a:extLst>
          </p:cNvPr>
          <p:cNvSpPr txBox="1"/>
          <p:nvPr/>
        </p:nvSpPr>
        <p:spPr>
          <a:xfrm>
            <a:off x="777240" y="811530"/>
            <a:ext cx="18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AdventureWork | </a:t>
            </a:r>
          </a:p>
        </p:txBody>
      </p:sp>
    </p:spTree>
    <p:extLst>
      <p:ext uri="{BB962C8B-B14F-4D97-AF65-F5344CB8AC3E}">
        <p14:creationId xmlns:p14="http://schemas.microsoft.com/office/powerpoint/2010/main" val="1863045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E54D-372B-DD91-16E3-67A3AC24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F7A54-AF25-E327-6283-1877A6FE9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12"/>
            <a:ext cx="12192000" cy="6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84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1436</Words>
  <Application>Microsoft Office PowerPoint</Application>
  <PresentationFormat>Widescreen</PresentationFormat>
  <Paragraphs>186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Thinh Nguyen</dc:creator>
  <cp:lastModifiedBy>Thinh Nguyen</cp:lastModifiedBy>
  <cp:revision>14</cp:revision>
  <dcterms:created xsi:type="dcterms:W3CDTF">2026-04-14T06:22:43Z</dcterms:created>
  <dcterms:modified xsi:type="dcterms:W3CDTF">2026-04-15T15:06:01Z</dcterms:modified>
</cp:coreProperties>
</file>